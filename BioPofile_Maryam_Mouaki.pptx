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Arial MT Pro Bold" charset="1" panose="020B08020202020202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213490" cy="10287000"/>
            <a:chOff x="0" y="0"/>
            <a:chExt cx="13731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31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73100">
                  <a:moveTo>
                    <a:pt x="0" y="0"/>
                  </a:moveTo>
                  <a:lnTo>
                    <a:pt x="1373100" y="0"/>
                  </a:lnTo>
                  <a:lnTo>
                    <a:pt x="13731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45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7310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6860" y="398160"/>
            <a:ext cx="3175352" cy="630540"/>
          </a:xfrm>
          <a:custGeom>
            <a:avLst/>
            <a:gdLst/>
            <a:ahLst/>
            <a:cxnLst/>
            <a:rect r="r" b="b" t="t" l="l"/>
            <a:pathLst>
              <a:path h="630540" w="3175352">
                <a:moveTo>
                  <a:pt x="0" y="0"/>
                </a:moveTo>
                <a:lnTo>
                  <a:pt x="3175352" y="0"/>
                </a:lnTo>
                <a:lnTo>
                  <a:pt x="3175352" y="630540"/>
                </a:lnTo>
                <a:lnTo>
                  <a:pt x="0" y="630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0" r="0" b="-446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85817" y="1314776"/>
            <a:ext cx="3041855" cy="2754260"/>
            <a:chOff x="0" y="0"/>
            <a:chExt cx="801147" cy="7254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1147" cy="725402"/>
            </a:xfrm>
            <a:custGeom>
              <a:avLst/>
              <a:gdLst/>
              <a:ahLst/>
              <a:cxnLst/>
              <a:rect r="r" b="b" t="t" l="l"/>
              <a:pathLst>
                <a:path h="725402" w="801147">
                  <a:moveTo>
                    <a:pt x="0" y="0"/>
                  </a:moveTo>
                  <a:lnTo>
                    <a:pt x="801147" y="0"/>
                  </a:lnTo>
                  <a:lnTo>
                    <a:pt x="801147" y="725402"/>
                  </a:lnTo>
                  <a:lnTo>
                    <a:pt x="0" y="7254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801147" cy="830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17075" y="1402235"/>
            <a:ext cx="2579340" cy="2579340"/>
          </a:xfrm>
          <a:custGeom>
            <a:avLst/>
            <a:gdLst/>
            <a:ahLst/>
            <a:cxnLst/>
            <a:rect r="r" b="b" t="t" l="l"/>
            <a:pathLst>
              <a:path h="2579340" w="2579340">
                <a:moveTo>
                  <a:pt x="0" y="0"/>
                </a:moveTo>
                <a:lnTo>
                  <a:pt x="2579340" y="0"/>
                </a:lnTo>
                <a:lnTo>
                  <a:pt x="2579340" y="2579341"/>
                </a:lnTo>
                <a:lnTo>
                  <a:pt x="0" y="2579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28428" y="280770"/>
            <a:ext cx="5709336" cy="103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7"/>
              </a:lnSpc>
            </a:pPr>
            <a:r>
              <a:rPr lang="en-US" sz="2791" b="true">
                <a:solidFill>
                  <a:srgbClr val="17456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</a:t>
            </a:r>
            <a:r>
              <a:rPr lang="en-US" sz="2791" b="true">
                <a:solidFill>
                  <a:srgbClr val="17456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ROJETS</a:t>
            </a:r>
          </a:p>
          <a:p>
            <a:pPr algn="l">
              <a:lnSpc>
                <a:spcPts val="390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028428" y="5293360"/>
            <a:ext cx="5709336" cy="103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7"/>
              </a:lnSpc>
            </a:pPr>
            <a:r>
              <a:rPr lang="en-US" sz="2791" b="true">
                <a:solidFill>
                  <a:srgbClr val="17456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Hard </a:t>
            </a:r>
            <a:r>
              <a:rPr lang="en-US" sz="2791" b="true">
                <a:solidFill>
                  <a:srgbClr val="17456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Skills</a:t>
            </a:r>
          </a:p>
          <a:p>
            <a:pPr algn="l">
              <a:lnSpc>
                <a:spcPts val="390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941686" y="5293360"/>
            <a:ext cx="5709336" cy="103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7"/>
              </a:lnSpc>
            </a:pPr>
            <a:r>
              <a:rPr lang="en-US" sz="2791" b="true">
                <a:solidFill>
                  <a:srgbClr val="17456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Soft </a:t>
            </a:r>
            <a:r>
              <a:rPr lang="en-US" sz="2791" b="true">
                <a:solidFill>
                  <a:srgbClr val="17456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Skills</a:t>
            </a:r>
          </a:p>
          <a:p>
            <a:pPr algn="l">
              <a:lnSpc>
                <a:spcPts val="390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655839" y="5293360"/>
            <a:ext cx="5709336" cy="103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7"/>
              </a:lnSpc>
            </a:pPr>
            <a:r>
              <a:rPr lang="en-US" sz="2791" b="true">
                <a:solidFill>
                  <a:srgbClr val="17456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Out</a:t>
            </a:r>
            <a:r>
              <a:rPr lang="en-US" sz="2791" b="true">
                <a:solidFill>
                  <a:srgbClr val="17456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ils &amp; Technologies</a:t>
            </a:r>
          </a:p>
          <a:p>
            <a:pPr algn="l">
              <a:lnSpc>
                <a:spcPts val="390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19092" y="5762738"/>
            <a:ext cx="5709336" cy="95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7"/>
              </a:lnSpc>
            </a:pPr>
            <a:r>
              <a:rPr lang="en-US" sz="2591" b="true">
                <a:solidFill>
                  <a:srgbClr val="FF52BA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DISPONIBILITÉ:   </a:t>
            </a:r>
            <a:r>
              <a:rPr lang="en-US" sz="2591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Immediate</a:t>
            </a:r>
          </a:p>
          <a:p>
            <a:pPr algn="l">
              <a:lnSpc>
                <a:spcPts val="362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19092" y="6797004"/>
            <a:ext cx="5709336" cy="49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7"/>
              </a:lnSpc>
            </a:pPr>
            <a:r>
              <a:rPr lang="en-US" b="true" sz="2591">
                <a:solidFill>
                  <a:srgbClr val="FF52BA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LANGUES: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0138" y="4240485"/>
            <a:ext cx="2853214" cy="5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7"/>
              </a:lnSpc>
              <a:spcBef>
                <a:spcPct val="0"/>
              </a:spcBef>
            </a:pPr>
            <a:r>
              <a:rPr lang="en-US" b="true" sz="299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Mouaki Maryam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8266" y="7472336"/>
            <a:ext cx="4036957" cy="178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8"/>
              </a:lnSpc>
            </a:pPr>
            <a:r>
              <a:rPr lang="en-US" b="true" sz="245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Arabe — langue maternelle</a:t>
            </a:r>
          </a:p>
          <a:p>
            <a:pPr algn="l">
              <a:lnSpc>
                <a:spcPts val="3438"/>
              </a:lnSpc>
            </a:pPr>
            <a:r>
              <a:rPr lang="en-US" b="true" sz="245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Anglais — C1</a:t>
            </a:r>
          </a:p>
          <a:p>
            <a:pPr algn="l">
              <a:lnSpc>
                <a:spcPts val="3438"/>
              </a:lnSpc>
            </a:pPr>
            <a:r>
              <a:rPr lang="en-US" b="true" sz="245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Français — B2</a:t>
            </a:r>
          </a:p>
          <a:p>
            <a:pPr algn="l">
              <a:lnSpc>
                <a:spcPts val="3438"/>
              </a:lnSpc>
            </a:pPr>
            <a:r>
              <a:rPr lang="en-US" b="true" sz="245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Espagnol — A1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88294" y="997798"/>
            <a:ext cx="9333072" cy="49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7"/>
              </a:lnSpc>
              <a:spcBef>
                <a:spcPct val="0"/>
              </a:spcBef>
            </a:pPr>
            <a:r>
              <a:rPr lang="en-US" b="true" sz="2591">
                <a:solidFill>
                  <a:srgbClr val="FF52BA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Plateforme de Collecte et Gestion d'Appels d'Offres Publics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88294" y="1398708"/>
            <a:ext cx="11297755" cy="169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6"/>
              </a:lnSpc>
              <a:spcBef>
                <a:spcPct val="0"/>
              </a:spcBef>
            </a:pPr>
            <a:r>
              <a:rPr lang="en-US" b="true" sz="2304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Plateforme backend pour la collecte, le stockage et la gestion d'appels d'offres publics via web scraping et API REST. 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b="true" sz="2357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88294" y="2391438"/>
            <a:ext cx="9526191" cy="49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7"/>
              </a:lnSpc>
              <a:spcBef>
                <a:spcPct val="0"/>
              </a:spcBef>
            </a:pPr>
            <a:r>
              <a:rPr lang="en-US" b="true" sz="2591" strike="noStrike" u="none">
                <a:solidFill>
                  <a:srgbClr val="FF52BA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Système de Collecte et Recherche de Données Sanctionnées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88294" y="2792348"/>
            <a:ext cx="11899706" cy="855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6"/>
              </a:lnSpc>
              <a:spcBef>
                <a:spcPct val="0"/>
              </a:spcBef>
            </a:pPr>
            <a:r>
              <a:rPr lang="en-US" b="true" sz="23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Système utilisant Prefect pour l'orchestration, Elasticsearch pour l'indexation et FastAPI pour une API de recherche.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88294" y="3768568"/>
            <a:ext cx="9302711" cy="49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7"/>
              </a:lnSpc>
              <a:spcBef>
                <a:spcPct val="0"/>
              </a:spcBef>
            </a:pPr>
            <a:r>
              <a:rPr lang="en-US" b="true" sz="2591" strike="noStrike" u="none">
                <a:solidFill>
                  <a:srgbClr val="FF52BA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Modèle de Prédiction de Quantité d'Importation de Produits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53213" y="4259535"/>
            <a:ext cx="11647001" cy="855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6"/>
              </a:lnSpc>
              <a:spcBef>
                <a:spcPct val="0"/>
              </a:spcBef>
            </a:pPr>
            <a:r>
              <a:rPr lang="en-US" b="true" sz="23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Modèle de machine learning basé sur XGBoost pour prédire la quantité à importer de chaque produit (CODE_SH), à partir de données économiques et douanières.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21465" y="5815490"/>
            <a:ext cx="3115572" cy="4132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6"/>
              </a:lnSpc>
              <a:spcBef>
                <a:spcPct val="0"/>
              </a:spcBef>
            </a:pPr>
            <a:r>
              <a:rPr lang="en-US" b="true" sz="23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Python, Java, C, SQL, PL/SQL, Agno, LangChain, FastAPI, Scikit-learn, Pandas, NumPy, Streamlit, Matplotlib, Prefect, APScheduler, XGBoost, Seaborn, HTML, CSS et JavaScript.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46637" y="6020278"/>
            <a:ext cx="3565954" cy="372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6"/>
              </a:lnSpc>
              <a:spcBef>
                <a:spcPct val="0"/>
              </a:spcBef>
            </a:pPr>
            <a:r>
              <a:rPr lang="en-US" b="true" sz="23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Communication, travail en équipe,</a:t>
            </a:r>
          </a:p>
          <a:p>
            <a:pPr algn="l" marL="0" indent="0" lvl="0">
              <a:lnSpc>
                <a:spcPts val="3226"/>
              </a:lnSpc>
              <a:spcBef>
                <a:spcPct val="0"/>
              </a:spcBef>
            </a:pPr>
            <a:r>
              <a:rPr lang="en-US" b="true" sz="23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résolution de problèmes, adaptabilité,</a:t>
            </a:r>
          </a:p>
          <a:p>
            <a:pPr algn="l" marL="0" indent="0" lvl="0">
              <a:lnSpc>
                <a:spcPts val="3226"/>
              </a:lnSpc>
              <a:spcBef>
                <a:spcPct val="0"/>
              </a:spcBef>
            </a:pPr>
            <a:r>
              <a:rPr lang="en-US" b="true" sz="23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leadership, esprit critique, créativité, </a:t>
            </a:r>
          </a:p>
          <a:p>
            <a:pPr algn="l" marL="0" indent="0" lvl="0">
              <a:lnSpc>
                <a:spcPts val="3226"/>
              </a:lnSpc>
              <a:spcBef>
                <a:spcPct val="0"/>
              </a:spcBef>
            </a:pPr>
            <a:r>
              <a:rPr lang="en-US" b="true" sz="23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gestion du temps, souci du détail et apprentissage continu.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55839" y="5944982"/>
            <a:ext cx="3962469" cy="3313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6"/>
              </a:lnSpc>
              <a:spcBef>
                <a:spcPct val="0"/>
              </a:spcBef>
            </a:pPr>
            <a:r>
              <a:rPr lang="en-US" b="true" sz="23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MongoDB, Oracle, Elasticsearch, PostgreSQL, Neo4j, MinIO, Hadoop, Kafka, Docker, Docker Compose, Prefect, Power BI, Git, GitHub, LaTeX, MATLAB, Maple, Merise et UML.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DAHQkuc4zXc</dc:identifier>
  <dcterms:modified xsi:type="dcterms:W3CDTF">2011-08-01T06:04:30Z</dcterms:modified>
  <cp:revision>1</cp:revision>
  <dc:title>BioPofile_Template</dc:title>
</cp:coreProperties>
</file>