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
  </p:notesMasterIdLst>
  <p:sldIdLst>
    <p:sldId id="256" r:id="rId2"/>
  </p:sldIdLst>
  <p:sldSz cx="18288000" cy="10287000"/>
  <p:notesSz cx="6858000" cy="9144000"/>
  <p:embeddedFontLst>
    <p:embeddedFont>
      <p:font typeface="Arial" panose="020B0604020202020204" pitchFamily="34" charset="0"/>
      <p:regular r:id="rId4"/>
    </p:embeddedFont>
    <p:embeddedFont>
      <p:font typeface="Arial Bold" panose="020B0604020202020204" charset="0"/>
      <p:regular r:id="rId5"/>
    </p:embeddedFont>
    <p:embeddedFont>
      <p:font typeface="Calibri" panose="020F0502020204030204" pitchFamily="34" charset="0"/>
      <p:regular r:id="rId6"/>
      <p:bold r:id="rId7"/>
      <p:italic r:id="rId8"/>
      <p:boldItalic r:id="rId9"/>
    </p:embeddedFont>
    <p:embeddedFont>
      <p:font typeface="Calibri (MS)" panose="020B0604020202020204" charset="0"/>
      <p:regular r:id="rId10"/>
    </p:embeddedFont>
    <p:embeddedFont>
      <p:font typeface="Calibri (MS) Bold" panose="020B0604020202020204" charset="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8" d="100"/>
          <a:sy n="78" d="100"/>
        </p:scale>
        <p:origin x="35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8" Type="http://schemas.openxmlformats.org/officeDocument/2006/relationships/font" Target="fonts/font5.fntdata"/><Relationship Id="rId9" Type="http://schemas.openxmlformats.org/officeDocument/2006/relationships/font" Target="fonts/font6.fntdata"/><Relationship Id="rId10" Type="http://schemas.openxmlformats.org/officeDocument/2006/relationships/font" Target="fonts/font7.fntdata"/><Relationship Id="rId11" Type="http://schemas.openxmlformats.org/officeDocument/2006/relationships/font" Target="fonts/font8.fntdata"/><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28.07.2026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‹N°›</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svg"/><Relationship Id="rId6" Type="http://schemas.openxmlformats.org/officeDocument/2006/relationships/image" Target="../media/image4.png"/><Relationship Id="rId7" Type="http://schemas.openxmlformats.org/officeDocument/2006/relationships/image" Target="../media/image5.svg"/><Relationship Id="rId8" Type="http://schemas.openxmlformats.org/officeDocument/2006/relationships/image" Target="../media/image6.png"/><Relationship Id="rId9" Type="http://schemas.openxmlformats.org/officeDocument/2006/relationships/image" Target="../media/image7.jpeg"/><Relationship Id="rId10"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8846963" y="845963"/>
            <a:ext cx="594065" cy="18288000"/>
            <a:chOff x="0" y="0"/>
            <a:chExt cx="792086" cy="24384000"/>
          </a:xfrm>
        </p:grpSpPr>
        <p:sp>
          <p:nvSpPr>
            <p:cNvPr id="3" name="Freeform 3"/>
            <p:cNvSpPr/>
            <p:nvPr/>
          </p:nvSpPr>
          <p:spPr>
            <a:xfrm>
              <a:off x="0" y="0"/>
              <a:ext cx="792099" cy="24384000"/>
            </a:xfrm>
            <a:custGeom>
              <a:avLst/>
              <a:gdLst/>
              <a:ahLst/>
              <a:cxnLst/>
              <a:rect l="l" t="t" r="r" b="b"/>
              <a:pathLst>
                <a:path w="792099" h="24384000">
                  <a:moveTo>
                    <a:pt x="0" y="0"/>
                  </a:moveTo>
                  <a:lnTo>
                    <a:pt x="792099" y="0"/>
                  </a:lnTo>
                  <a:lnTo>
                    <a:pt x="792099" y="24384000"/>
                  </a:lnTo>
                  <a:lnTo>
                    <a:pt x="0" y="24384000"/>
                  </a:lnTo>
                  <a:close/>
                </a:path>
              </a:pathLst>
            </a:custGeom>
            <a:solidFill>
              <a:srgbClr val="174564"/>
            </a:solidFill>
          </p:spPr>
          <p:txBody>
            <a:bodyPr/>
            <a:p/>
          </p:txBody>
        </p:sp>
      </p:grpSp>
      <p:grpSp>
        <p:nvGrpSpPr>
          <p:cNvPr id="4" name="Group 4"/>
          <p:cNvGrpSpPr/>
          <p:nvPr/>
        </p:nvGrpSpPr>
        <p:grpSpPr>
          <a:xfrm>
            <a:off x="269662" y="9835115"/>
            <a:ext cx="1559433" cy="309705"/>
            <a:chOff x="0" y="0"/>
            <a:chExt cx="2079244" cy="412940"/>
          </a:xfrm>
        </p:grpSpPr>
        <p:sp>
          <p:nvSpPr>
            <p:cNvPr id="5" name="Freeform 5"/>
            <p:cNvSpPr/>
            <p:nvPr/>
          </p:nvSpPr>
          <p:spPr>
            <a:xfrm>
              <a:off x="0" y="0"/>
              <a:ext cx="2079244" cy="412877"/>
            </a:xfrm>
            <a:custGeom>
              <a:avLst/>
              <a:gdLst/>
              <a:ahLst/>
              <a:cxnLst/>
              <a:rect l="l" t="t" r="r" b="b"/>
              <a:pathLst>
                <a:path w="2079244" h="412877">
                  <a:moveTo>
                    <a:pt x="0" y="0"/>
                  </a:moveTo>
                  <a:lnTo>
                    <a:pt x="2079244" y="0"/>
                  </a:lnTo>
                  <a:lnTo>
                    <a:pt x="2079244" y="412877"/>
                  </a:lnTo>
                  <a:lnTo>
                    <a:pt x="0" y="412877"/>
                  </a:lnTo>
                  <a:lnTo>
                    <a:pt x="0" y="0"/>
                  </a:lnTo>
                  <a:close/>
                </a:path>
              </a:pathLst>
            </a:custGeom>
            <a:blipFill>
              <a:blip r:embed="rId3"/>
              <a:stretch>
                <a:fillRect b="-719"/>
              </a:stretch>
            </a:blipFill>
          </p:spPr>
          <p:txBody>
            <a:bodyPr/>
            <a:p/>
          </p:txBody>
        </p:sp>
      </p:grpSp>
      <p:grpSp>
        <p:nvGrpSpPr>
          <p:cNvPr id="6" name="Group 6"/>
          <p:cNvGrpSpPr/>
          <p:nvPr/>
        </p:nvGrpSpPr>
        <p:grpSpPr>
          <a:xfrm>
            <a:off x="1217085" y="1493387"/>
            <a:ext cx="833123" cy="106680"/>
            <a:chOff x="0" y="0"/>
            <a:chExt cx="1110831" cy="142240"/>
          </a:xfrm>
        </p:grpSpPr>
        <p:sp>
          <p:nvSpPr>
            <p:cNvPr id="7" name="Freeform 7"/>
            <p:cNvSpPr/>
            <p:nvPr/>
          </p:nvSpPr>
          <p:spPr>
            <a:xfrm>
              <a:off x="0" y="0"/>
              <a:ext cx="1110869" cy="142240"/>
            </a:xfrm>
            <a:custGeom>
              <a:avLst/>
              <a:gdLst/>
              <a:ahLst/>
              <a:cxnLst/>
              <a:rect l="l" t="t" r="r" b="b"/>
              <a:pathLst>
                <a:path w="1110869" h="142240">
                  <a:moveTo>
                    <a:pt x="0" y="0"/>
                  </a:moveTo>
                  <a:lnTo>
                    <a:pt x="1110869" y="0"/>
                  </a:lnTo>
                  <a:lnTo>
                    <a:pt x="1110869" y="142240"/>
                  </a:lnTo>
                  <a:lnTo>
                    <a:pt x="0" y="142240"/>
                  </a:lnTo>
                  <a:close/>
                </a:path>
              </a:pathLst>
            </a:custGeom>
            <a:solidFill>
              <a:srgbClr val="174564"/>
            </a:solidFill>
          </p:spPr>
          <p:txBody>
            <a:bodyPr/>
            <a:p/>
          </p:txBody>
        </p:sp>
      </p:grpSp>
      <p:sp>
        <p:nvSpPr>
          <p:cNvPr id="8" name="Freeform 8"/>
          <p:cNvSpPr/>
          <p:nvPr/>
        </p:nvSpPr>
        <p:spPr>
          <a:xfrm>
            <a:off x="-4877" y="-9525"/>
            <a:ext cx="4049420" cy="9740132"/>
          </a:xfrm>
          <a:custGeom>
            <a:avLst/>
            <a:gdLst/>
            <a:ahLst/>
            <a:cxnLst/>
            <a:rect l="l" t="t" r="r" b="b"/>
            <a:pathLst>
              <a:path w="4049420" h="9740132">
                <a:moveTo>
                  <a:pt x="0" y="0"/>
                </a:moveTo>
                <a:lnTo>
                  <a:pt x="4049421" y="0"/>
                </a:lnTo>
                <a:lnTo>
                  <a:pt x="4049421" y="9740132"/>
                </a:lnTo>
                <a:lnTo>
                  <a:pt x="0" y="974013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p/>
        </p:txBody>
      </p:sp>
      <p:sp>
        <p:nvSpPr>
          <p:cNvPr id="9" name="Freeform 9"/>
          <p:cNvSpPr/>
          <p:nvPr/>
        </p:nvSpPr>
        <p:spPr>
          <a:xfrm>
            <a:off x="4179056" y="144066"/>
            <a:ext cx="12683033" cy="663702"/>
          </a:xfrm>
          <a:custGeom>
            <a:avLst/>
            <a:gdLst/>
            <a:ahLst/>
            <a:cxnLst/>
            <a:rect l="l" t="t" r="r" b="b"/>
            <a:pathLst>
              <a:path w="12683033" h="663702">
                <a:moveTo>
                  <a:pt x="0" y="0"/>
                </a:moveTo>
                <a:lnTo>
                  <a:pt x="12683032" y="0"/>
                </a:lnTo>
                <a:lnTo>
                  <a:pt x="12683032" y="663702"/>
                </a:lnTo>
                <a:lnTo>
                  <a:pt x="0" y="66370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p/>
        </p:txBody>
      </p:sp>
      <p:grpSp>
        <p:nvGrpSpPr>
          <p:cNvPr id="10" name="Group 10"/>
          <p:cNvGrpSpPr/>
          <p:nvPr/>
        </p:nvGrpSpPr>
        <p:grpSpPr>
          <a:xfrm>
            <a:off x="734044" y="527399"/>
            <a:ext cx="2384412" cy="408851"/>
            <a:chOff x="0" y="0"/>
            <a:chExt cx="3179216" cy="545135"/>
          </a:xfrm>
        </p:grpSpPr>
        <p:sp>
          <p:nvSpPr>
            <p:cNvPr id="11" name="Freeform 11"/>
            <p:cNvSpPr/>
            <p:nvPr/>
          </p:nvSpPr>
          <p:spPr>
            <a:xfrm>
              <a:off x="0" y="0"/>
              <a:ext cx="3179191" cy="545084"/>
            </a:xfrm>
            <a:custGeom>
              <a:avLst/>
              <a:gdLst/>
              <a:ahLst/>
              <a:cxnLst/>
              <a:rect l="l" t="t" r="r" b="b"/>
              <a:pathLst>
                <a:path w="3179191" h="545084">
                  <a:moveTo>
                    <a:pt x="0" y="0"/>
                  </a:moveTo>
                  <a:lnTo>
                    <a:pt x="3179191" y="0"/>
                  </a:lnTo>
                  <a:lnTo>
                    <a:pt x="3179191" y="545084"/>
                  </a:lnTo>
                  <a:lnTo>
                    <a:pt x="0" y="545084"/>
                  </a:lnTo>
                  <a:lnTo>
                    <a:pt x="0" y="0"/>
                  </a:lnTo>
                  <a:close/>
                </a:path>
              </a:pathLst>
            </a:custGeom>
            <a:blipFill>
              <a:blip r:embed="rId8"/>
              <a:stretch>
                <a:fillRect b="-9"/>
              </a:stretch>
            </a:blipFill>
          </p:spPr>
          <p:txBody>
            <a:bodyPr/>
            <a:p/>
          </p:txBody>
        </p:sp>
      </p:grpSp>
      <p:grpSp>
        <p:nvGrpSpPr>
          <p:cNvPr id="12" name="Group 12"/>
          <p:cNvGrpSpPr/>
          <p:nvPr/>
        </p:nvGrpSpPr>
        <p:grpSpPr>
          <a:xfrm>
            <a:off x="545125" y="2549138"/>
            <a:ext cx="1390650" cy="73914"/>
            <a:chOff x="0" y="0"/>
            <a:chExt cx="1854200" cy="98552"/>
          </a:xfrm>
        </p:grpSpPr>
        <p:sp>
          <p:nvSpPr>
            <p:cNvPr id="13" name="Freeform 13"/>
            <p:cNvSpPr/>
            <p:nvPr/>
          </p:nvSpPr>
          <p:spPr>
            <a:xfrm>
              <a:off x="0" y="0"/>
              <a:ext cx="1854200" cy="98552"/>
            </a:xfrm>
            <a:custGeom>
              <a:avLst/>
              <a:gdLst/>
              <a:ahLst/>
              <a:cxnLst/>
              <a:rect l="l" t="t" r="r" b="b"/>
              <a:pathLst>
                <a:path w="1854200" h="98552">
                  <a:moveTo>
                    <a:pt x="0" y="0"/>
                  </a:moveTo>
                  <a:lnTo>
                    <a:pt x="1854200" y="0"/>
                  </a:lnTo>
                  <a:lnTo>
                    <a:pt x="1854200" y="98552"/>
                  </a:lnTo>
                  <a:lnTo>
                    <a:pt x="0" y="98552"/>
                  </a:lnTo>
                  <a:close/>
                </a:path>
              </a:pathLst>
            </a:custGeom>
            <a:solidFill>
              <a:srgbClr val="C8215A"/>
            </a:solidFill>
            <a:ln w="19050" cap="sq">
              <a:solidFill>
                <a:srgbClr val="C8215A"/>
              </a:solidFill>
              <a:prstDash val="solid"/>
              <a:miter/>
            </a:ln>
          </p:spPr>
          <p:txBody>
            <a:bodyPr/>
            <a:p/>
          </p:txBody>
        </p:sp>
      </p:grpSp>
      <p:grpSp>
        <p:nvGrpSpPr>
          <p:cNvPr id="14" name="Group 14"/>
          <p:cNvGrpSpPr/>
          <p:nvPr/>
        </p:nvGrpSpPr>
        <p:grpSpPr>
          <a:xfrm>
            <a:off x="5090103" y="6292139"/>
            <a:ext cx="2625366" cy="446856"/>
            <a:chOff x="0" y="0"/>
            <a:chExt cx="3500488" cy="595808"/>
          </a:xfrm>
        </p:grpSpPr>
        <p:sp>
          <p:nvSpPr>
            <p:cNvPr id="15" name="Freeform 15"/>
            <p:cNvSpPr/>
            <p:nvPr/>
          </p:nvSpPr>
          <p:spPr>
            <a:xfrm>
              <a:off x="0" y="0"/>
              <a:ext cx="3500501" cy="595757"/>
            </a:xfrm>
            <a:custGeom>
              <a:avLst/>
              <a:gdLst/>
              <a:ahLst/>
              <a:cxnLst/>
              <a:rect l="l" t="t" r="r" b="b"/>
              <a:pathLst>
                <a:path w="3500501" h="595757">
                  <a:moveTo>
                    <a:pt x="0" y="0"/>
                  </a:moveTo>
                  <a:lnTo>
                    <a:pt x="3500501" y="0"/>
                  </a:lnTo>
                  <a:lnTo>
                    <a:pt x="3500501" y="595757"/>
                  </a:lnTo>
                  <a:lnTo>
                    <a:pt x="0" y="595757"/>
                  </a:lnTo>
                  <a:close/>
                </a:path>
              </a:pathLst>
            </a:custGeom>
            <a:solidFill>
              <a:srgbClr val="1B3A5C"/>
            </a:solidFill>
            <a:ln w="19050" cap="sq">
              <a:solidFill>
                <a:srgbClr val="1B3A5C"/>
              </a:solidFill>
              <a:prstDash val="solid"/>
              <a:miter/>
            </a:ln>
          </p:spPr>
          <p:txBody>
            <a:bodyPr/>
            <a:p/>
          </p:txBody>
        </p:sp>
        <p:sp>
          <p:nvSpPr>
            <p:cNvPr id="16" name="TextBox 16"/>
            <p:cNvSpPr txBox="1"/>
            <p:nvPr/>
          </p:nvSpPr>
          <p:spPr>
            <a:xfrm>
              <a:off x="0" y="-47625"/>
              <a:ext cx="3500488" cy="643433"/>
            </a:xfrm>
            <a:prstGeom prst="rect">
              <a:avLst/>
            </a:prstGeom>
          </p:spPr>
          <p:txBody>
            <a:bodyPr lIns="50800" tIns="50800" rIns="50800" bIns="50800" rtlCol="0" anchor="t"/>
            <a:lstStyle/>
            <a:p>
              <a:pPr algn="ctr">
                <a:lnSpc>
                  <a:spcPts val="2520"/>
                </a:lnSpc>
              </a:pPr>
              <a:r>
                <a:rPr lang="en-US" sz="2100" b="1">
                  <a:solidFill>
                    <a:srgbClr val="FFFFFF"/>
                  </a:solidFill>
                  <a:latin typeface="Calibri (MS) Bold"/>
                  <a:ea typeface="Calibri (MS) Bold"/>
                  <a:cs typeface="Calibri (MS) Bold"/>
                  <a:sym typeface="Calibri (MS) Bold"/>
                </a:rPr>
                <a:t>TECHNICAL SKILLS</a:t>
              </a:r>
            </a:p>
          </p:txBody>
        </p:sp>
      </p:grpSp>
      <p:grpSp>
        <p:nvGrpSpPr>
          <p:cNvPr id="17" name="Group 17"/>
          <p:cNvGrpSpPr/>
          <p:nvPr/>
        </p:nvGrpSpPr>
        <p:grpSpPr>
          <a:xfrm>
            <a:off x="5090103" y="6706229"/>
            <a:ext cx="2625366" cy="51921"/>
            <a:chOff x="0" y="0"/>
            <a:chExt cx="3500488" cy="69228"/>
          </a:xfrm>
        </p:grpSpPr>
        <p:sp>
          <p:nvSpPr>
            <p:cNvPr id="18" name="Freeform 18"/>
            <p:cNvSpPr/>
            <p:nvPr/>
          </p:nvSpPr>
          <p:spPr>
            <a:xfrm>
              <a:off x="0" y="0"/>
              <a:ext cx="3500501" cy="69215"/>
            </a:xfrm>
            <a:custGeom>
              <a:avLst/>
              <a:gdLst/>
              <a:ahLst/>
              <a:cxnLst/>
              <a:rect l="l" t="t" r="r" b="b"/>
              <a:pathLst>
                <a:path w="3500501" h="69215">
                  <a:moveTo>
                    <a:pt x="0" y="0"/>
                  </a:moveTo>
                  <a:lnTo>
                    <a:pt x="3500501" y="0"/>
                  </a:lnTo>
                  <a:lnTo>
                    <a:pt x="3500501" y="69215"/>
                  </a:lnTo>
                  <a:lnTo>
                    <a:pt x="0" y="69215"/>
                  </a:lnTo>
                  <a:close/>
                </a:path>
              </a:pathLst>
            </a:custGeom>
            <a:solidFill>
              <a:srgbClr val="C8215A"/>
            </a:solidFill>
            <a:ln w="19050" cap="sq">
              <a:solidFill>
                <a:srgbClr val="C8215A"/>
              </a:solidFill>
              <a:prstDash val="solid"/>
              <a:miter/>
            </a:ln>
          </p:spPr>
          <p:txBody>
            <a:bodyPr/>
            <a:p/>
          </p:txBody>
        </p:sp>
      </p:grpSp>
      <p:grpSp>
        <p:nvGrpSpPr>
          <p:cNvPr id="19" name="Group 19"/>
          <p:cNvGrpSpPr/>
          <p:nvPr/>
        </p:nvGrpSpPr>
        <p:grpSpPr>
          <a:xfrm>
            <a:off x="9915144" y="6292139"/>
            <a:ext cx="2625385" cy="446722"/>
            <a:chOff x="0" y="0"/>
            <a:chExt cx="3500514" cy="595630"/>
          </a:xfrm>
        </p:grpSpPr>
        <p:sp>
          <p:nvSpPr>
            <p:cNvPr id="20" name="Freeform 20"/>
            <p:cNvSpPr/>
            <p:nvPr/>
          </p:nvSpPr>
          <p:spPr>
            <a:xfrm>
              <a:off x="0" y="0"/>
              <a:ext cx="3500501" cy="595630"/>
            </a:xfrm>
            <a:custGeom>
              <a:avLst/>
              <a:gdLst/>
              <a:ahLst/>
              <a:cxnLst/>
              <a:rect l="l" t="t" r="r" b="b"/>
              <a:pathLst>
                <a:path w="3500501" h="595630">
                  <a:moveTo>
                    <a:pt x="0" y="0"/>
                  </a:moveTo>
                  <a:lnTo>
                    <a:pt x="3500501" y="0"/>
                  </a:lnTo>
                  <a:lnTo>
                    <a:pt x="3500501" y="595630"/>
                  </a:lnTo>
                  <a:lnTo>
                    <a:pt x="0" y="595630"/>
                  </a:lnTo>
                  <a:close/>
                </a:path>
              </a:pathLst>
            </a:custGeom>
            <a:solidFill>
              <a:srgbClr val="1B3A5C"/>
            </a:solidFill>
            <a:ln w="19050" cap="sq">
              <a:solidFill>
                <a:srgbClr val="1B3A5C"/>
              </a:solidFill>
              <a:prstDash val="solid"/>
              <a:miter/>
            </a:ln>
          </p:spPr>
          <p:txBody>
            <a:bodyPr/>
            <a:p/>
          </p:txBody>
        </p:sp>
        <p:sp>
          <p:nvSpPr>
            <p:cNvPr id="21" name="TextBox 21"/>
            <p:cNvSpPr txBox="1"/>
            <p:nvPr/>
          </p:nvSpPr>
          <p:spPr>
            <a:xfrm>
              <a:off x="0" y="-47625"/>
              <a:ext cx="3500514" cy="643255"/>
            </a:xfrm>
            <a:prstGeom prst="rect">
              <a:avLst/>
            </a:prstGeom>
          </p:spPr>
          <p:txBody>
            <a:bodyPr lIns="50800" tIns="50800" rIns="50800" bIns="50800" rtlCol="0" anchor="t"/>
            <a:lstStyle/>
            <a:p>
              <a:pPr algn="ctr">
                <a:lnSpc>
                  <a:spcPts val="2520"/>
                </a:lnSpc>
              </a:pPr>
              <a:r>
                <a:rPr lang="en-US" sz="2100" b="1">
                  <a:solidFill>
                    <a:srgbClr val="FFFFFF"/>
                  </a:solidFill>
                  <a:latin typeface="Calibri (MS) Bold"/>
                  <a:ea typeface="Calibri (MS) Bold"/>
                  <a:cs typeface="Calibri (MS) Bold"/>
                  <a:sym typeface="Calibri (MS) Bold"/>
                </a:rPr>
                <a:t>SOFT SKILLS</a:t>
              </a:r>
            </a:p>
          </p:txBody>
        </p:sp>
      </p:grpSp>
      <p:grpSp>
        <p:nvGrpSpPr>
          <p:cNvPr id="22" name="Group 22"/>
          <p:cNvGrpSpPr/>
          <p:nvPr/>
        </p:nvGrpSpPr>
        <p:grpSpPr>
          <a:xfrm>
            <a:off x="9915144" y="6706229"/>
            <a:ext cx="2625385" cy="51892"/>
            <a:chOff x="0" y="0"/>
            <a:chExt cx="3500514" cy="69190"/>
          </a:xfrm>
        </p:grpSpPr>
        <p:sp>
          <p:nvSpPr>
            <p:cNvPr id="23" name="Freeform 23"/>
            <p:cNvSpPr/>
            <p:nvPr/>
          </p:nvSpPr>
          <p:spPr>
            <a:xfrm>
              <a:off x="0" y="0"/>
              <a:ext cx="3500501" cy="69215"/>
            </a:xfrm>
            <a:custGeom>
              <a:avLst/>
              <a:gdLst/>
              <a:ahLst/>
              <a:cxnLst/>
              <a:rect l="l" t="t" r="r" b="b"/>
              <a:pathLst>
                <a:path w="3500501" h="69215">
                  <a:moveTo>
                    <a:pt x="0" y="0"/>
                  </a:moveTo>
                  <a:lnTo>
                    <a:pt x="3500501" y="0"/>
                  </a:lnTo>
                  <a:lnTo>
                    <a:pt x="3500501" y="69215"/>
                  </a:lnTo>
                  <a:lnTo>
                    <a:pt x="0" y="69215"/>
                  </a:lnTo>
                  <a:close/>
                </a:path>
              </a:pathLst>
            </a:custGeom>
            <a:solidFill>
              <a:srgbClr val="C8215A"/>
            </a:solidFill>
            <a:ln w="19050" cap="sq">
              <a:solidFill>
                <a:srgbClr val="C8215A"/>
              </a:solidFill>
              <a:prstDash val="solid"/>
              <a:miter/>
            </a:ln>
          </p:spPr>
          <p:txBody>
            <a:bodyPr/>
            <a:p/>
          </p:txBody>
        </p:sp>
      </p:grpSp>
      <p:grpSp>
        <p:nvGrpSpPr>
          <p:cNvPr id="24" name="Group 24"/>
          <p:cNvGrpSpPr/>
          <p:nvPr/>
        </p:nvGrpSpPr>
        <p:grpSpPr>
          <a:xfrm>
            <a:off x="4280021" y="1342234"/>
            <a:ext cx="14032354" cy="4878000"/>
            <a:chOff x="0" y="0"/>
            <a:chExt cx="18709805" cy="6504000"/>
          </a:xfrm>
        </p:grpSpPr>
        <p:sp>
          <p:nvSpPr>
            <p:cNvPr id="25" name="Freeform 25"/>
            <p:cNvSpPr/>
            <p:nvPr/>
          </p:nvSpPr>
          <p:spPr>
            <a:xfrm>
              <a:off x="0" y="0"/>
              <a:ext cx="18709801" cy="6504000"/>
            </a:xfrm>
            <a:custGeom>
              <a:avLst/>
              <a:gdLst/>
              <a:ahLst/>
              <a:cxnLst/>
              <a:rect l="l" t="t" r="r" b="b"/>
              <a:pathLst>
                <a:path w="18709801" h="6504000">
                  <a:moveTo>
                    <a:pt x="0" y="0"/>
                  </a:moveTo>
                  <a:lnTo>
                    <a:pt x="18709801" y="0"/>
                  </a:lnTo>
                  <a:lnTo>
                    <a:pt x="18709801" y="6504000"/>
                  </a:lnTo>
                  <a:lnTo>
                    <a:pt x="0" y="6504000"/>
                  </a:lnTo>
                  <a:close/>
                </a:path>
              </a:pathLst>
            </a:custGeom>
            <a:blipFill>
              <a:blip r:embed="rId9">
                <a:alphaModFix amt="0"/>
              </a:blip>
              <a:stretch>
                <a:fillRect t="-6051" b="-6051"/>
              </a:stretch>
            </a:blipFill>
          </p:spPr>
          <p:txBody>
            <a:bodyPr/>
            <a:p/>
          </p:txBody>
        </p:sp>
        <p:sp>
          <p:nvSpPr>
            <p:cNvPr id="26" name="TextBox 26"/>
            <p:cNvSpPr txBox="1"/>
            <p:nvPr/>
          </p:nvSpPr>
          <p:spPr>
            <a:xfrm>
              <a:off x="0" y="-47625"/>
              <a:ext cx="18709805" cy="6551625"/>
            </a:xfrm>
            <a:prstGeom prst="rect">
              <a:avLst/>
            </a:prstGeom>
          </p:spPr>
          <p:txBody>
            <a:bodyPr lIns="0" tIns="0" rIns="0" bIns="0" rtlCol="0" anchor="ctr" wrap="square"/>
            <a:lstStyle/>
            <a:p>
              <a:pPr marL="591026" lvl="1" indent="-295513" algn="l">
                <a:lnSpc>
                  <a:spcPts val="2690"/>
                </a:lnSpc>
                <a:buFont typeface="Arial"/>
                <a:buChar char="•"/>
              </a:pPr>
            </a:p>
            <a:p>
              <a:pPr>
                <a:defRPr sz="1400" b="1">
                  <a:solidFill>
                    <a:srgbClr val="003366"/>
                  </a:solidFill>
                </a:defRPr>
              </a:pPr>
              <a:r>
                <a:t>Plateforme de Collecte et Gestion d’Appels d’Offres Publics</a:t>
              </a:r>
            </a:p>
            <a:p>
              <a:pPr>
                <a:defRPr sz="1200" b="0">
                  <a:solidFill>
                    <a:srgbClr val="000000"/>
                  </a:solidFill>
                </a:defRPr>
              </a:pPr>
              <a:r>
                <a:t>Développement d’une plateforme backend pour la collecte, le stockage et la gestion d’appels d’offres publics via web scraping et API REST. Utilisation de FastAPI, MongoDB, Docker, Docker Compose, Python, Pandas, APScheduler.</a:t>
              </a:r>
            </a:p>
            <a:p>
              <a:pPr>
                <a:defRPr sz="600"/>
              </a:pPr>
            </a:p>
            <a:p>
              <a:pPr>
                <a:defRPr sz="1400" b="1">
                  <a:solidFill>
                    <a:srgbClr val="003366"/>
                  </a:solidFill>
                </a:defRPr>
              </a:pPr>
              <a:r>
                <a:t>Système de Collecte et Recherche de Données Sanctionnées</a:t>
              </a:r>
            </a:p>
            <a:p>
              <a:pPr>
                <a:defRPr sz="1200" b="0">
                  <a:solidFill>
                    <a:srgbClr val="000000"/>
                  </a:solidFill>
                </a:defRPr>
              </a:pPr>
              <a:r>
                <a:t>Conception d’un système utilisant Prefect pour l’orchestration, Elasticsearch pour l’indexation, et FastAPI pour une API de recherche.</a:t>
              </a:r>
            </a:p>
            <a:p>
              <a:pPr>
                <a:defRPr sz="600"/>
              </a:pPr>
            </a:p>
            <a:p>
              <a:pPr>
                <a:defRPr sz="1400" b="1">
                  <a:solidFill>
                    <a:srgbClr val="003366"/>
                  </a:solidFill>
                </a:defRPr>
              </a:pPr>
              <a:r>
                <a:t>Modèle Prédiction de Quantité d’Importation de Produits</a:t>
              </a:r>
            </a:p>
            <a:p>
              <a:pPr>
                <a:defRPr sz="1200" b="0">
                  <a:solidFill>
                    <a:srgbClr val="000000"/>
                  </a:solidFill>
                </a:defRPr>
              </a:pPr>
              <a:r>
                <a:t>Développement d’un modèle de machine learning basé sur XGBoost pour prédire la quantité à importer de chaque produit identifié par un CODE SH, en exploitant des données économiques et douanières. Évaluation du modèle avec des métriques de régression (RMSE, MAE, R2) et visualisation des résultats.</a:t>
              </a:r>
            </a:p>
          </p:txBody>
        </p:sp>
      </p:grpSp>
      <p:grpSp>
        <p:nvGrpSpPr>
          <p:cNvPr id="27" name="Group 27"/>
          <p:cNvGrpSpPr/>
          <p:nvPr/>
        </p:nvGrpSpPr>
        <p:grpSpPr>
          <a:xfrm rot="5400000">
            <a:off x="8528790" y="7882785"/>
            <a:ext cx="1390650" cy="73952"/>
            <a:chOff x="0" y="0"/>
            <a:chExt cx="1854200" cy="98603"/>
          </a:xfrm>
        </p:grpSpPr>
        <p:sp>
          <p:nvSpPr>
            <p:cNvPr id="28" name="Freeform 28"/>
            <p:cNvSpPr/>
            <p:nvPr/>
          </p:nvSpPr>
          <p:spPr>
            <a:xfrm>
              <a:off x="0" y="0"/>
              <a:ext cx="1854200" cy="98552"/>
            </a:xfrm>
            <a:custGeom>
              <a:avLst/>
              <a:gdLst/>
              <a:ahLst/>
              <a:cxnLst/>
              <a:rect l="l" t="t" r="r" b="b"/>
              <a:pathLst>
                <a:path w="1854200" h="98552">
                  <a:moveTo>
                    <a:pt x="0" y="0"/>
                  </a:moveTo>
                  <a:lnTo>
                    <a:pt x="1854200" y="0"/>
                  </a:lnTo>
                  <a:lnTo>
                    <a:pt x="1854200" y="98552"/>
                  </a:lnTo>
                  <a:lnTo>
                    <a:pt x="0" y="98552"/>
                  </a:lnTo>
                  <a:close/>
                </a:path>
              </a:pathLst>
            </a:custGeom>
            <a:solidFill>
              <a:srgbClr val="C8215A"/>
            </a:solidFill>
            <a:ln w="19050" cap="sq">
              <a:solidFill>
                <a:srgbClr val="C8215A"/>
              </a:solidFill>
              <a:prstDash val="solid"/>
              <a:miter/>
            </a:ln>
          </p:spPr>
          <p:txBody>
            <a:bodyPr/>
            <a:p/>
          </p:txBody>
        </p:sp>
      </p:grpSp>
      <p:grpSp>
        <p:nvGrpSpPr>
          <p:cNvPr id="29" name="Group 29"/>
          <p:cNvGrpSpPr/>
          <p:nvPr/>
        </p:nvGrpSpPr>
        <p:grpSpPr>
          <a:xfrm>
            <a:off x="14465246" y="6292139"/>
            <a:ext cx="2625385" cy="446722"/>
            <a:chOff x="0" y="0"/>
            <a:chExt cx="3500514" cy="595630"/>
          </a:xfrm>
        </p:grpSpPr>
        <p:sp>
          <p:nvSpPr>
            <p:cNvPr id="30" name="Freeform 30"/>
            <p:cNvSpPr/>
            <p:nvPr/>
          </p:nvSpPr>
          <p:spPr>
            <a:xfrm>
              <a:off x="0" y="0"/>
              <a:ext cx="3500501" cy="595630"/>
            </a:xfrm>
            <a:custGeom>
              <a:avLst/>
              <a:gdLst/>
              <a:ahLst/>
              <a:cxnLst/>
              <a:rect l="l" t="t" r="r" b="b"/>
              <a:pathLst>
                <a:path w="3500501" h="595630">
                  <a:moveTo>
                    <a:pt x="0" y="0"/>
                  </a:moveTo>
                  <a:lnTo>
                    <a:pt x="3500501" y="0"/>
                  </a:lnTo>
                  <a:lnTo>
                    <a:pt x="3500501" y="595630"/>
                  </a:lnTo>
                  <a:lnTo>
                    <a:pt x="0" y="595630"/>
                  </a:lnTo>
                  <a:close/>
                </a:path>
              </a:pathLst>
            </a:custGeom>
            <a:solidFill>
              <a:srgbClr val="1B3A5C"/>
            </a:solidFill>
            <a:ln w="19050" cap="sq">
              <a:solidFill>
                <a:srgbClr val="1B3A5C"/>
              </a:solidFill>
              <a:prstDash val="solid"/>
              <a:miter/>
            </a:ln>
          </p:spPr>
          <p:txBody>
            <a:bodyPr/>
            <a:p/>
          </p:txBody>
        </p:sp>
        <p:sp>
          <p:nvSpPr>
            <p:cNvPr id="31" name="TextBox 31"/>
            <p:cNvSpPr txBox="1"/>
            <p:nvPr/>
          </p:nvSpPr>
          <p:spPr>
            <a:xfrm>
              <a:off x="0" y="-47625"/>
              <a:ext cx="3500514" cy="643255"/>
            </a:xfrm>
            <a:prstGeom prst="rect">
              <a:avLst/>
            </a:prstGeom>
          </p:spPr>
          <p:txBody>
            <a:bodyPr lIns="50800" tIns="50800" rIns="50800" bIns="50800" rtlCol="0" anchor="t"/>
            <a:lstStyle/>
            <a:p>
              <a:pPr algn="ctr">
                <a:lnSpc>
                  <a:spcPts val="2520"/>
                </a:lnSpc>
              </a:pPr>
              <a:r>
                <a:rPr lang="en-US" sz="2100" b="1">
                  <a:solidFill>
                    <a:srgbClr val="FFFFFF"/>
                  </a:solidFill>
                  <a:latin typeface="Calibri (MS) Bold"/>
                  <a:ea typeface="Calibri (MS) Bold"/>
                  <a:cs typeface="Calibri (MS) Bold"/>
                  <a:sym typeface="Calibri (MS) Bold"/>
                </a:rPr>
                <a:t>TOOLS</a:t>
              </a:r>
            </a:p>
          </p:txBody>
        </p:sp>
      </p:grpSp>
      <p:grpSp>
        <p:nvGrpSpPr>
          <p:cNvPr id="32" name="Group 32"/>
          <p:cNvGrpSpPr/>
          <p:nvPr/>
        </p:nvGrpSpPr>
        <p:grpSpPr>
          <a:xfrm>
            <a:off x="14465246" y="6706229"/>
            <a:ext cx="2625385" cy="51892"/>
            <a:chOff x="0" y="0"/>
            <a:chExt cx="3500514" cy="69190"/>
          </a:xfrm>
        </p:grpSpPr>
        <p:sp>
          <p:nvSpPr>
            <p:cNvPr id="33" name="Freeform 33"/>
            <p:cNvSpPr/>
            <p:nvPr/>
          </p:nvSpPr>
          <p:spPr>
            <a:xfrm>
              <a:off x="0" y="0"/>
              <a:ext cx="3500501" cy="69215"/>
            </a:xfrm>
            <a:custGeom>
              <a:avLst/>
              <a:gdLst/>
              <a:ahLst/>
              <a:cxnLst/>
              <a:rect l="l" t="t" r="r" b="b"/>
              <a:pathLst>
                <a:path w="3500501" h="69215">
                  <a:moveTo>
                    <a:pt x="0" y="0"/>
                  </a:moveTo>
                  <a:lnTo>
                    <a:pt x="3500501" y="0"/>
                  </a:lnTo>
                  <a:lnTo>
                    <a:pt x="3500501" y="69215"/>
                  </a:lnTo>
                  <a:lnTo>
                    <a:pt x="0" y="69215"/>
                  </a:lnTo>
                  <a:close/>
                </a:path>
              </a:pathLst>
            </a:custGeom>
            <a:solidFill>
              <a:srgbClr val="C8215A"/>
            </a:solidFill>
            <a:ln w="19050" cap="sq">
              <a:solidFill>
                <a:srgbClr val="C8215A"/>
              </a:solidFill>
              <a:prstDash val="solid"/>
              <a:miter/>
            </a:ln>
          </p:spPr>
          <p:txBody>
            <a:bodyPr/>
            <a:p/>
          </p:txBody>
        </p:sp>
      </p:grpSp>
      <p:grpSp>
        <p:nvGrpSpPr>
          <p:cNvPr id="34" name="Group 34"/>
          <p:cNvGrpSpPr/>
          <p:nvPr/>
        </p:nvGrpSpPr>
        <p:grpSpPr>
          <a:xfrm rot="5400000">
            <a:off x="13148586" y="7882785"/>
            <a:ext cx="1390650" cy="73952"/>
            <a:chOff x="0" y="0"/>
            <a:chExt cx="1854200" cy="98603"/>
          </a:xfrm>
        </p:grpSpPr>
        <p:sp>
          <p:nvSpPr>
            <p:cNvPr id="35" name="Freeform 35"/>
            <p:cNvSpPr/>
            <p:nvPr/>
          </p:nvSpPr>
          <p:spPr>
            <a:xfrm>
              <a:off x="0" y="0"/>
              <a:ext cx="1854200" cy="98552"/>
            </a:xfrm>
            <a:custGeom>
              <a:avLst/>
              <a:gdLst/>
              <a:ahLst/>
              <a:cxnLst/>
              <a:rect l="l" t="t" r="r" b="b"/>
              <a:pathLst>
                <a:path w="1854200" h="98552">
                  <a:moveTo>
                    <a:pt x="0" y="0"/>
                  </a:moveTo>
                  <a:lnTo>
                    <a:pt x="1854200" y="0"/>
                  </a:lnTo>
                  <a:lnTo>
                    <a:pt x="1854200" y="98552"/>
                  </a:lnTo>
                  <a:lnTo>
                    <a:pt x="0" y="98552"/>
                  </a:lnTo>
                  <a:close/>
                </a:path>
              </a:pathLst>
            </a:custGeom>
            <a:solidFill>
              <a:srgbClr val="C8215A"/>
            </a:solidFill>
            <a:ln w="19050" cap="sq">
              <a:solidFill>
                <a:srgbClr val="C8215A"/>
              </a:solidFill>
              <a:prstDash val="solid"/>
              <a:miter/>
            </a:ln>
          </p:spPr>
          <p:txBody>
            <a:bodyPr/>
            <a:p/>
          </p:txBody>
        </p:sp>
      </p:grpSp>
      <p:grpSp>
        <p:nvGrpSpPr>
          <p:cNvPr id="36" name="Group 36"/>
          <p:cNvGrpSpPr/>
          <p:nvPr/>
        </p:nvGrpSpPr>
        <p:grpSpPr>
          <a:xfrm>
            <a:off x="456619" y="6070892"/>
            <a:ext cx="2939291" cy="442978"/>
            <a:chOff x="0" y="0"/>
            <a:chExt cx="3919055" cy="590637"/>
          </a:xfrm>
        </p:grpSpPr>
        <p:sp>
          <p:nvSpPr>
            <p:cNvPr id="37" name="Freeform 37"/>
            <p:cNvSpPr/>
            <p:nvPr/>
          </p:nvSpPr>
          <p:spPr>
            <a:xfrm>
              <a:off x="0" y="0"/>
              <a:ext cx="3919093" cy="590570"/>
            </a:xfrm>
            <a:custGeom>
              <a:avLst/>
              <a:gdLst/>
              <a:ahLst/>
              <a:cxnLst/>
              <a:rect l="l" t="t" r="r" b="b"/>
              <a:pathLst>
                <a:path w="3919093" h="590570">
                  <a:moveTo>
                    <a:pt x="0" y="0"/>
                  </a:moveTo>
                  <a:lnTo>
                    <a:pt x="3919093" y="0"/>
                  </a:lnTo>
                  <a:lnTo>
                    <a:pt x="3919093" y="590570"/>
                  </a:lnTo>
                  <a:lnTo>
                    <a:pt x="0" y="590570"/>
                  </a:lnTo>
                  <a:close/>
                </a:path>
              </a:pathLst>
            </a:custGeom>
            <a:solidFill>
              <a:srgbClr val="E7E6E6"/>
            </a:solidFill>
            <a:ln w="14288" cap="sq">
              <a:solidFill>
                <a:srgbClr val="174564"/>
              </a:solidFill>
              <a:prstDash val="solid"/>
              <a:miter/>
            </a:ln>
          </p:spPr>
          <p:txBody>
            <a:bodyPr/>
            <a:p/>
          </p:txBody>
        </p:sp>
        <p:sp>
          <p:nvSpPr>
            <p:cNvPr id="38" name="TextBox 38"/>
            <p:cNvSpPr txBox="1"/>
            <p:nvPr/>
          </p:nvSpPr>
          <p:spPr>
            <a:xfrm>
              <a:off x="0" y="-19050"/>
              <a:ext cx="3919055" cy="609687"/>
            </a:xfrm>
            <a:prstGeom prst="rect">
              <a:avLst/>
            </a:prstGeom>
          </p:spPr>
          <p:txBody>
            <a:bodyPr lIns="50800" tIns="50800" rIns="50800" bIns="50800" rtlCol="0" anchor="ctr"/>
            <a:lstStyle/>
            <a:p>
              <a:pPr algn="ctr">
                <a:lnSpc>
                  <a:spcPts val="1980"/>
                </a:lnSpc>
              </a:pPr>
              <a:r>
                <a:rPr lang="en-US" sz="1650" b="1">
                  <a:solidFill>
                    <a:srgbClr val="000000"/>
                  </a:solidFill>
                  <a:latin typeface="Arial Bold"/>
                  <a:ea typeface="Arial Bold"/>
                  <a:cs typeface="Arial Bold"/>
                  <a:sym typeface="Arial Bold"/>
                </a:rPr>
                <a:t>Disponibilité : immédiate</a:t>
              </a:r>
            </a:p>
          </p:txBody>
        </p:sp>
      </p:grpSp>
      <p:grpSp>
        <p:nvGrpSpPr>
          <p:cNvPr id="39" name="Group 39"/>
          <p:cNvGrpSpPr/>
          <p:nvPr/>
        </p:nvGrpSpPr>
        <p:grpSpPr>
          <a:xfrm>
            <a:off x="615504" y="2732215"/>
            <a:ext cx="2621471" cy="3275143"/>
            <a:chOff x="0" y="0"/>
            <a:chExt cx="3495294" cy="4366857"/>
          </a:xfrm>
        </p:grpSpPr>
        <p:sp>
          <p:nvSpPr>
            <p:cNvPr id="40" name="Freeform 40"/>
            <p:cNvSpPr/>
            <p:nvPr/>
          </p:nvSpPr>
          <p:spPr>
            <a:xfrm>
              <a:off x="0" y="0"/>
              <a:ext cx="3495294" cy="4366895"/>
            </a:xfrm>
            <a:custGeom>
              <a:avLst/>
              <a:gdLst/>
              <a:ahLst/>
              <a:cxnLst/>
              <a:rect l="l" t="t" r="r" b="b"/>
              <a:pathLst>
                <a:path w="3495294" h="4366895">
                  <a:moveTo>
                    <a:pt x="0" y="0"/>
                  </a:moveTo>
                  <a:lnTo>
                    <a:pt x="3495294" y="0"/>
                  </a:lnTo>
                  <a:lnTo>
                    <a:pt x="3495294" y="4366895"/>
                  </a:lnTo>
                  <a:lnTo>
                    <a:pt x="0" y="4366895"/>
                  </a:lnTo>
                  <a:lnTo>
                    <a:pt x="0" y="0"/>
                  </a:lnTo>
                  <a:close/>
                </a:path>
              </a:pathLst>
            </a:custGeom>
            <a:blipFill>
              <a:blip r:embed="rId10"/>
              <a:stretch>
                <a:fillRect l="-56251" t="-76223" r="-56251"/>
              </a:stretch>
            </a:blipFill>
          </p:spPr>
          <p:txBody>
            <a:bodyPr/>
            <a:p/>
          </p:txBody>
        </p:sp>
      </p:grpSp>
      <p:sp>
        <p:nvSpPr>
          <p:cNvPr id="41" name="TextBox 41"/>
          <p:cNvSpPr txBox="1"/>
          <p:nvPr/>
        </p:nvSpPr>
        <p:spPr>
          <a:xfrm>
            <a:off x="14878669" y="9886826"/>
            <a:ext cx="3211668" cy="191805"/>
          </a:xfrm>
          <a:prstGeom prst="rect">
            <a:avLst/>
          </a:prstGeom>
        </p:spPr>
        <p:txBody>
          <a:bodyPr lIns="0" tIns="0" rIns="0" bIns="0" rtlCol="0" anchor="t">
            <a:spAutoFit/>
          </a:bodyPr>
          <a:lstStyle/>
          <a:p>
            <a:pPr algn="r">
              <a:lnSpc>
                <a:spcPts val="1260"/>
              </a:lnSpc>
            </a:pPr>
            <a:r>
              <a:rPr lang="en-US" sz="1050">
                <a:solidFill>
                  <a:srgbClr val="FFFFFF"/>
                </a:solidFill>
                <a:latin typeface="Arial"/>
                <a:ea typeface="Arial"/>
                <a:cs typeface="Arial"/>
                <a:sym typeface="Arial"/>
              </a:rPr>
              <a:t>© SEGULA Technologies – Tous droits réservés</a:t>
            </a:r>
          </a:p>
        </p:txBody>
      </p:sp>
      <p:sp>
        <p:nvSpPr>
          <p:cNvPr id="42" name="TextBox 42"/>
          <p:cNvSpPr txBox="1"/>
          <p:nvPr/>
        </p:nvSpPr>
        <p:spPr>
          <a:xfrm>
            <a:off x="4280021" y="93326"/>
            <a:ext cx="12331579" cy="709874"/>
          </a:xfrm>
          <a:prstGeom prst="rect">
            <a:avLst/>
          </a:prstGeom>
        </p:spPr>
        <p:txBody>
          <a:bodyPr wrap="square" lIns="0" tIns="0" rIns="0" bIns="0" rtlCol="0" anchor="t">
            <a:spAutoFit/>
          </a:bodyPr>
          <a:lstStyle/>
          <a:p>
            <a:pPr algn="just">
              <a:lnSpc>
                <a:spcPts val="1979"/>
              </a:lnSpc>
            </a:pPr>
            <a:endParaRPr dirty="0"/>
          </a:p>
          <a:p>
            <a:pPr algn="just">
              <a:lnSpc>
                <a:spcPts val="1584"/>
              </a:lnSpc>
            </a:pPr>
            <a:r>
              <a:rPr lang="en-US" sz="1200" dirty="0">
                <a:solidFill>
                  <a:srgbClr val="FFFFFF"/>
                </a:solidFill>
                <a:latin typeface="Arial"/>
                <a:ea typeface="Arial"/>
                <a:cs typeface="Arial"/>
                <a:sym typeface="Arial"/>
              </a:rPr>
              <a:t>EXPERIENCES</a:t>
            </a:r>
            <a:r>
              <a:rPr lang="en-US" sz="1200" b="1" dirty="0">
                <a:solidFill>
                  <a:srgbClr val="FFFFFF"/>
                </a:solidFill>
                <a:latin typeface="Arial Bold"/>
                <a:ea typeface="Arial Bold"/>
                <a:cs typeface="Arial Bold"/>
                <a:sym typeface="Arial Bold"/>
              </a:rPr>
              <a:t> </a:t>
            </a:r>
          </a:p>
          <a:p>
            <a:pPr algn="l">
              <a:lnSpc>
                <a:spcPts val="1980"/>
              </a:lnSpc>
            </a:pPr>
            <a:r>
              <a:rPr lang="en-US" sz="1650" b="1" dirty="0">
                <a:solidFill>
                  <a:srgbClr val="FFFFFF"/>
                </a:solidFill>
                <a:latin typeface="Calibri (MS) Bold"/>
                <a:ea typeface="Calibri (MS) Bold"/>
                <a:cs typeface="Calibri (MS) Bold"/>
                <a:sym typeface="Calibri (MS) Bold"/>
              </a:rPr>
              <a:t/>
            </a:r>
          </a:p>
        </p:txBody>
      </p:sp>
      <p:sp>
        <p:nvSpPr>
          <p:cNvPr id="43" name="TextBox 43"/>
          <p:cNvSpPr txBox="1"/>
          <p:nvPr/>
        </p:nvSpPr>
        <p:spPr>
          <a:xfrm>
            <a:off x="149047" y="1021785"/>
            <a:ext cx="3554397" cy="1266825"/>
          </a:xfrm>
          <a:prstGeom prst="rect">
            <a:avLst/>
          </a:prstGeom>
        </p:spPr>
        <p:txBody>
          <a:bodyPr lIns="0" tIns="0" rIns="0" bIns="0" rtlCol="0" anchor="t">
            <a:spAutoFit/>
          </a:bodyPr>
          <a:lstStyle/>
          <a:p>
            <a:pPr algn="ctr">
              <a:lnSpc>
                <a:spcPts val="2520"/>
              </a:lnSpc>
            </a:pPr>
            <a:r>
              <a:rPr lang="en-US" sz="2100">
                <a:solidFill>
                  <a:srgbClr val="FFFFFF"/>
                </a:solidFill>
                <a:latin typeface="Arial"/>
                <a:ea typeface="Arial"/>
                <a:cs typeface="Arial"/>
                <a:sym typeface="Arial"/>
              </a:rPr>
              <a:t>Maryam Mouaki</a:t>
            </a:r>
          </a:p>
          <a:p>
            <a:pPr algn="ctr">
              <a:lnSpc>
                <a:spcPts val="2520"/>
              </a:lnSpc>
            </a:pPr>
            <a:endParaRPr lang="en-US" sz="2100">
              <a:solidFill>
                <a:srgbClr val="FFFFFF"/>
              </a:solidFill>
              <a:latin typeface="Arial"/>
              <a:ea typeface="Arial"/>
              <a:cs typeface="Arial"/>
              <a:sym typeface="Arial"/>
            </a:endParaRPr>
          </a:p>
          <a:p>
            <a:pPr algn="ctr">
              <a:lnSpc>
                <a:spcPts val="2520"/>
              </a:lnSpc>
            </a:pPr>
            <a:r>
              <a:rPr lang="en-US" sz="2100">
                <a:solidFill>
                  <a:srgbClr val="FFFFFF"/>
                </a:solidFill>
                <a:latin typeface="Arial"/>
                <a:ea typeface="Arial"/>
                <a:cs typeface="Arial"/>
                <a:sym typeface="Arial"/>
              </a:rPr>
              <a:t>Etudiante ingénieure en Big Data et Systèmes d’Information</a:t>
            </a:r>
          </a:p>
          <a:p>
            <a:pPr algn="ctr">
              <a:lnSpc>
                <a:spcPts val="2520"/>
              </a:lnSpc>
            </a:pPr>
            <a:endParaRPr lang="en-US" sz="2100">
              <a:solidFill>
                <a:srgbClr val="FFFFFF"/>
              </a:solidFill>
              <a:latin typeface="Arial"/>
              <a:ea typeface="Arial"/>
              <a:cs typeface="Arial"/>
              <a:sym typeface="Arial"/>
            </a:endParaRPr>
          </a:p>
        </p:txBody>
      </p:sp>
      <p:sp>
        <p:nvSpPr>
          <p:cNvPr id="44" name="TextBox 44"/>
          <p:cNvSpPr txBox="1"/>
          <p:nvPr/>
        </p:nvSpPr>
        <p:spPr>
          <a:xfrm>
            <a:off x="179041" y="7038775"/>
            <a:ext cx="3764547" cy="2628925"/>
          </a:xfrm>
          <a:prstGeom prst="rect">
            <a:avLst/>
          </a:prstGeom>
        </p:spPr>
        <p:txBody>
          <a:bodyPr lIns="0" tIns="0" rIns="0" bIns="0" rtlCol="0" anchor="t">
            <a:spAutoFit/>
          </a:bodyPr>
          <a:lstStyle/>
          <a:p>
            <a:pPr algn="l">
              <a:lnSpc>
                <a:spcPts val="1800"/>
              </a:lnSpc>
            </a:pPr>
            <a:r>
              <a:rPr lang="en-US" sz="1500" b="1" dirty="0">
                <a:solidFill>
                  <a:srgbClr val="FFFFFF"/>
                </a:solidFill>
                <a:latin typeface="Arial Bold"/>
                <a:ea typeface="Arial Bold"/>
                <a:cs typeface="Arial Bold"/>
                <a:sym typeface="Arial Bold"/>
              </a:rPr>
              <a:t>Languages: </a:t>
            </a:r>
          </a:p>
          <a:p>
            <a:pPr algn="l">
              <a:lnSpc>
                <a:spcPts val="2520"/>
              </a:lnSpc>
            </a:pPr>
            <a:endParaRPr lang="en-US" sz="1500" b="1" dirty="0">
              <a:solidFill>
                <a:srgbClr val="FFFFFF"/>
              </a:solidFill>
              <a:latin typeface="Arial Bold"/>
              <a:ea typeface="Arial Bold"/>
              <a:cs typeface="Arial Bold"/>
              <a:sym typeface="Arial Bold"/>
            </a:endParaRPr>
          </a:p>
          <a:p>
            <a:pPr marL="519112" lvl="1" indent="-259556" algn="l">
              <a:lnSpc>
                <a:spcPts val="1800"/>
              </a:lnSpc>
              <a:buFont typeface="Arial"/>
              <a:buChar char="•"/>
            </a:pPr>
            <a:r>
              <a:rPr lang="en-US" sz="1500" b="1" dirty="0">
                <a:solidFill>
                  <a:srgbClr val="FFFFFF"/>
                </a:solidFill>
                <a:latin typeface="Arial Bold"/>
                <a:ea typeface="Arial Bold"/>
                <a:cs typeface="Arial Bold"/>
                <a:sym typeface="Arial Bold"/>
              </a:rPr>
              <a:t>{{LANGUES}}</a:t>
            </a:r>
          </a:p>
          <a:p>
            <a:pPr marL="519112" lvl="1" indent="-259556" algn="l">
              <a:lnSpc>
                <a:spcPts val="1800"/>
              </a:lnSpc>
              <a:buFont typeface="Arial"/>
              <a:buChar char="•"/>
            </a:pPr>
            <a:endParaRPr lang="en-US" sz="1500" b="1" dirty="0">
              <a:solidFill>
                <a:srgbClr val="FFFFFF"/>
              </a:solidFill>
              <a:latin typeface="Arial Bold"/>
              <a:ea typeface="Arial Bold"/>
              <a:cs typeface="Arial Bold"/>
              <a:sym typeface="Arial Bold"/>
            </a:endParaRPr>
          </a:p>
          <a:p>
            <a:pPr marL="519112" lvl="1" indent="-259556" algn="l">
              <a:lnSpc>
                <a:spcPts val="1800"/>
              </a:lnSpc>
              <a:buFont typeface="Arial"/>
              <a:buChar char="•"/>
            </a:pPr>
            <a:endParaRPr lang="en-US" sz="1500" b="1" dirty="0">
              <a:solidFill>
                <a:srgbClr val="FFFFFF"/>
              </a:solidFill>
              <a:latin typeface="Arial Bold"/>
              <a:ea typeface="Arial Bold"/>
              <a:cs typeface="Arial Bold"/>
              <a:sym typeface="Arial Bold"/>
            </a:endParaRPr>
          </a:p>
          <a:p>
            <a:pPr marL="519112" lvl="1" indent="-259556" algn="l">
              <a:lnSpc>
                <a:spcPts val="1800"/>
              </a:lnSpc>
              <a:buFont typeface="Arial"/>
              <a:buChar char="•"/>
            </a:pPr>
            <a:endParaRPr lang="en-US" sz="1500" b="1" dirty="0">
              <a:solidFill>
                <a:srgbClr val="FFFFFF"/>
              </a:solidFill>
              <a:latin typeface="Arial Bold"/>
              <a:ea typeface="Arial Bold"/>
              <a:cs typeface="Arial Bold"/>
              <a:sym typeface="Arial Bold"/>
            </a:endParaRPr>
          </a:p>
          <a:p>
            <a:pPr marL="519112" lvl="1" indent="-259556" algn="l">
              <a:lnSpc>
                <a:spcPts val="1800"/>
              </a:lnSpc>
              <a:buFont typeface="Arial"/>
              <a:buChar char="•"/>
            </a:pPr>
            <a:endParaRPr lang="en-US" sz="1500" b="1" dirty="0">
              <a:solidFill>
                <a:srgbClr val="FFFFFF"/>
              </a:solidFill>
              <a:latin typeface="Arial Bold"/>
              <a:ea typeface="Arial Bold"/>
              <a:cs typeface="Arial Bold"/>
              <a:sym typeface="Arial Bold"/>
            </a:endParaRPr>
          </a:p>
          <a:p>
            <a:pPr marL="519112" lvl="1" indent="-259556" algn="l">
              <a:lnSpc>
                <a:spcPts val="1800"/>
              </a:lnSpc>
              <a:buFont typeface="Arial"/>
              <a:buChar char="•"/>
            </a:pPr>
            <a:endParaRPr lang="en-US" sz="1500" b="1" dirty="0">
              <a:solidFill>
                <a:srgbClr val="FFFFFF"/>
              </a:solidFill>
              <a:latin typeface="Arial Bold"/>
              <a:ea typeface="Arial Bold"/>
              <a:cs typeface="Arial Bold"/>
              <a:sym typeface="Arial Bold"/>
            </a:endParaRPr>
          </a:p>
          <a:p>
            <a:pPr marL="519112" lvl="1" indent="-259556" algn="l">
              <a:lnSpc>
                <a:spcPts val="1800"/>
              </a:lnSpc>
              <a:buFont typeface="Arial"/>
              <a:buChar char="•"/>
            </a:pPr>
            <a:endParaRPr lang="en-US" sz="1500" b="1">
              <a:solidFill>
                <a:srgbClr val="FFFFFF"/>
              </a:solidFill>
              <a:latin typeface="Arial Bold"/>
              <a:ea typeface="Arial Bold"/>
              <a:cs typeface="Arial Bold"/>
              <a:sym typeface="Arial Bold"/>
            </a:endParaRPr>
          </a:p>
          <a:p>
            <a:pPr marL="519112" lvl="1" indent="-259556" algn="l">
              <a:lnSpc>
                <a:spcPts val="1800"/>
              </a:lnSpc>
              <a:buFont typeface="Arial"/>
              <a:buChar char="•"/>
            </a:pPr>
            <a:endParaRPr lang="en-US" sz="1500" b="1">
              <a:solidFill>
                <a:srgbClr val="FFFFFF"/>
              </a:solidFill>
              <a:latin typeface="Arial Bold"/>
              <a:ea typeface="Arial Bold"/>
              <a:cs typeface="Arial Bold"/>
              <a:sym typeface="Arial Bold"/>
            </a:endParaRPr>
          </a:p>
          <a:p>
            <a:pPr algn="l">
              <a:lnSpc>
                <a:spcPts val="1800"/>
              </a:lnSpc>
            </a:pPr>
            <a:endParaRPr lang="en-US" sz="1500" b="1" dirty="0">
              <a:solidFill>
                <a:srgbClr val="FFFFFF"/>
              </a:solidFill>
              <a:latin typeface="Arial Bold"/>
              <a:ea typeface="Arial Bold"/>
              <a:cs typeface="Arial Bold"/>
              <a:sym typeface="Arial Bold"/>
            </a:endParaRPr>
          </a:p>
        </p:txBody>
      </p:sp>
      <p:sp>
        <p:nvSpPr>
          <p:cNvPr id="45" name="TextBox 45"/>
          <p:cNvSpPr txBox="1"/>
          <p:nvPr/>
        </p:nvSpPr>
        <p:spPr>
          <a:xfrm>
            <a:off x="4425829" y="7019725"/>
            <a:ext cx="4580401" cy="2507097"/>
          </a:xfrm>
          <a:prstGeom prst="rect">
            <a:avLst/>
          </a:prstGeom>
        </p:spPr>
        <p:txBody>
          <a:bodyPr lIns="0" tIns="0" rIns="0" bIns="0" rtlCol="0" anchor="t">
            <a:spAutoFit/>
          </a:bodyPr>
          <a:lstStyle/>
          <a:p>
            <a:pPr marL="554355" lvl="1" indent="-277177" algn="l">
              <a:lnSpc>
                <a:spcPts val="2160"/>
              </a:lnSpc>
              <a:buFont typeface="Arial"/>
              <a:buChar char="•"/>
            </a:pPr>
            <a:r>
              <a:rPr lang="en-US" sz="1800" dirty="0">
                <a:solidFill>
                  <a:srgbClr val="2E2D2C"/>
                </a:solidFill>
                <a:latin typeface="Calibri (MS)"/>
                <a:ea typeface="Calibri (MS)"/>
                <a:cs typeface="Calibri (MS)"/>
                <a:sym typeface="Calibri (MS)"/>
              </a:rPr>
              <a:t>{{HARD}}</a:t>
            </a:r>
          </a:p>
          <a:p>
            <a:pPr marL="646747" lvl="1" indent="-323374" algn="l">
              <a:lnSpc>
                <a:spcPts val="2520"/>
              </a:lnSpc>
            </a:pPr>
            <a:endParaRPr lang="en-US" sz="1800" dirty="0">
              <a:solidFill>
                <a:srgbClr val="2E2D2C"/>
              </a:solidFill>
              <a:latin typeface="Calibri (MS)"/>
              <a:ea typeface="Calibri (MS)"/>
              <a:cs typeface="Calibri (MS)"/>
              <a:sym typeface="Calibri (MS)"/>
            </a:endParaRPr>
          </a:p>
          <a:p>
            <a:pPr marL="646747" lvl="1" indent="-323374" algn="l">
              <a:lnSpc>
                <a:spcPts val="2520"/>
              </a:lnSpc>
            </a:pPr>
            <a:endParaRPr lang="en-US" dirty="0">
              <a:solidFill>
                <a:srgbClr val="2E2D2C"/>
              </a:solidFill>
              <a:latin typeface="Calibri (MS)"/>
              <a:ea typeface="Calibri (MS)"/>
              <a:cs typeface="Calibri (MS)"/>
              <a:sym typeface="Calibri (MS)"/>
            </a:endParaRPr>
          </a:p>
          <a:p>
            <a:pPr marL="646747" lvl="1" indent="-323374" algn="l">
              <a:lnSpc>
                <a:spcPts val="2520"/>
              </a:lnSpc>
            </a:pPr>
            <a:endParaRPr lang="en-US" sz="1800" dirty="0">
              <a:solidFill>
                <a:srgbClr val="2E2D2C"/>
              </a:solidFill>
              <a:latin typeface="Calibri (MS)"/>
              <a:ea typeface="Calibri (MS)"/>
              <a:cs typeface="Calibri (MS)"/>
              <a:sym typeface="Calibri (MS)"/>
            </a:endParaRPr>
          </a:p>
          <a:p>
            <a:pPr marL="646747" lvl="1" indent="-323374" algn="l">
              <a:lnSpc>
                <a:spcPts val="2520"/>
              </a:lnSpc>
            </a:pPr>
            <a:endParaRPr lang="en-US" dirty="0">
              <a:solidFill>
                <a:srgbClr val="2E2D2C"/>
              </a:solidFill>
              <a:latin typeface="Calibri (MS)"/>
              <a:ea typeface="Calibri (MS)"/>
              <a:cs typeface="Calibri (MS)"/>
              <a:sym typeface="Calibri (MS)"/>
            </a:endParaRPr>
          </a:p>
          <a:p>
            <a:pPr marL="646747" lvl="1" indent="-323374" algn="l">
              <a:lnSpc>
                <a:spcPts val="2520"/>
              </a:lnSpc>
            </a:pPr>
            <a:endParaRPr lang="en-US" sz="1800" dirty="0">
              <a:solidFill>
                <a:srgbClr val="2E2D2C"/>
              </a:solidFill>
              <a:latin typeface="Calibri (MS)"/>
              <a:ea typeface="Calibri (MS)"/>
              <a:cs typeface="Calibri (MS)"/>
              <a:sym typeface="Calibri (MS)"/>
            </a:endParaRPr>
          </a:p>
          <a:p>
            <a:pPr marL="646747" lvl="1" indent="-323374" algn="l">
              <a:lnSpc>
                <a:spcPts val="2520"/>
              </a:lnSpc>
            </a:pPr>
            <a:endParaRPr lang="en-US" dirty="0">
              <a:solidFill>
                <a:srgbClr val="2E2D2C"/>
              </a:solidFill>
              <a:latin typeface="Calibri (MS)"/>
              <a:ea typeface="Calibri (MS)"/>
              <a:cs typeface="Calibri (MS)"/>
              <a:sym typeface="Calibri (MS)"/>
            </a:endParaRPr>
          </a:p>
          <a:p>
            <a:pPr marL="646747" lvl="1" indent="-323374" algn="l">
              <a:lnSpc>
                <a:spcPts val="2520"/>
              </a:lnSpc>
            </a:pPr>
            <a:endParaRPr lang="en-US" sz="1800" dirty="0">
              <a:solidFill>
                <a:srgbClr val="2E2D2C"/>
              </a:solidFill>
              <a:latin typeface="Calibri (MS)"/>
              <a:ea typeface="Calibri (MS)"/>
              <a:cs typeface="Calibri (MS)"/>
              <a:sym typeface="Calibri (MS)"/>
            </a:endParaRPr>
          </a:p>
        </p:txBody>
      </p:sp>
      <p:sp>
        <p:nvSpPr>
          <p:cNvPr id="46" name="TextBox 46"/>
          <p:cNvSpPr txBox="1"/>
          <p:nvPr/>
        </p:nvSpPr>
        <p:spPr>
          <a:xfrm>
            <a:off x="9488443" y="6941906"/>
            <a:ext cx="4291498" cy="2558393"/>
          </a:xfrm>
          <a:prstGeom prst="rect">
            <a:avLst/>
          </a:prstGeom>
        </p:spPr>
        <p:txBody>
          <a:bodyPr lIns="0" tIns="0" rIns="0" bIns="0" rtlCol="0" anchor="t">
            <a:spAutoFit/>
          </a:bodyPr>
          <a:lstStyle/>
          <a:p>
            <a:pPr marL="554355" lvl="1" indent="-277177" algn="l">
              <a:lnSpc>
                <a:spcPts val="2160"/>
              </a:lnSpc>
              <a:buFont typeface="Arial"/>
              <a:buChar char="•"/>
            </a:pPr>
            <a:r>
              <a:rPr lang="en-US" sz="1800" dirty="0">
                <a:solidFill>
                  <a:srgbClr val="2E2D2C"/>
                </a:solidFill>
                <a:latin typeface="Calibri (MS)"/>
                <a:ea typeface="Calibri (MS)"/>
                <a:cs typeface="Calibri (MS)"/>
                <a:sym typeface="Calibri (MS)"/>
              </a:rPr>
              <a:t>{{SOFT}}</a:t>
            </a:r>
          </a:p>
          <a:p>
            <a:pPr marL="554355" lvl="1" indent="-277177" algn="l">
              <a:lnSpc>
                <a:spcPts val="2160"/>
              </a:lnSpc>
              <a:buFont typeface="Arial"/>
              <a:buChar char="•"/>
            </a:pPr>
            <a:endParaRPr lang="en-US" dirty="0">
              <a:solidFill>
                <a:srgbClr val="2E2D2C"/>
              </a:solidFill>
              <a:latin typeface="Calibri (MS)"/>
              <a:ea typeface="Calibri (MS)"/>
              <a:cs typeface="Calibri (MS)"/>
              <a:sym typeface="Calibri (MS)"/>
            </a:endParaRPr>
          </a:p>
          <a:p>
            <a:pPr marL="554355" lvl="1" indent="-277177" algn="l">
              <a:lnSpc>
                <a:spcPts val="2160"/>
              </a:lnSpc>
              <a:buFont typeface="Arial"/>
              <a:buChar char="•"/>
            </a:pPr>
            <a:endParaRPr lang="en-US" sz="1800" dirty="0">
              <a:solidFill>
                <a:srgbClr val="2E2D2C"/>
              </a:solidFill>
              <a:latin typeface="Calibri (MS)"/>
              <a:ea typeface="Calibri (MS)"/>
              <a:cs typeface="Calibri (MS)"/>
              <a:sym typeface="Calibri (MS)"/>
            </a:endParaRPr>
          </a:p>
          <a:p>
            <a:pPr marL="554355" lvl="1" indent="-277177" algn="l">
              <a:lnSpc>
                <a:spcPts val="2160"/>
              </a:lnSpc>
              <a:buFont typeface="Arial"/>
              <a:buChar char="•"/>
            </a:pPr>
            <a:endParaRPr lang="en-US" dirty="0">
              <a:solidFill>
                <a:srgbClr val="2E2D2C"/>
              </a:solidFill>
              <a:latin typeface="Calibri (MS)"/>
              <a:ea typeface="Calibri (MS)"/>
              <a:cs typeface="Calibri (MS)"/>
              <a:sym typeface="Calibri (MS)"/>
            </a:endParaRPr>
          </a:p>
          <a:p>
            <a:pPr marL="554355" lvl="1" indent="-277177" algn="l">
              <a:lnSpc>
                <a:spcPts val="2160"/>
              </a:lnSpc>
              <a:buFont typeface="Arial"/>
              <a:buChar char="•"/>
            </a:pPr>
            <a:endParaRPr lang="en-US" sz="1800" dirty="0">
              <a:solidFill>
                <a:srgbClr val="2E2D2C"/>
              </a:solidFill>
              <a:latin typeface="Calibri (MS)"/>
              <a:ea typeface="Calibri (MS)"/>
              <a:cs typeface="Calibri (MS)"/>
              <a:sym typeface="Calibri (MS)"/>
            </a:endParaRPr>
          </a:p>
          <a:p>
            <a:pPr marL="277178" lvl="1" algn="l">
              <a:lnSpc>
                <a:spcPts val="2160"/>
              </a:lnSpc>
            </a:pPr>
            <a:endParaRPr lang="en-US" sz="1800" dirty="0">
              <a:solidFill>
                <a:srgbClr val="2E2D2C"/>
              </a:solidFill>
              <a:latin typeface="Calibri (MS)"/>
              <a:ea typeface="Calibri (MS)"/>
              <a:cs typeface="Calibri (MS)"/>
              <a:sym typeface="Calibri (MS)"/>
            </a:endParaRPr>
          </a:p>
          <a:p>
            <a:pPr marL="554355" lvl="1" indent="-277177" algn="l">
              <a:lnSpc>
                <a:spcPts val="2160"/>
              </a:lnSpc>
              <a:buFont typeface="Arial"/>
              <a:buChar char="•"/>
            </a:pPr>
            <a:endParaRPr lang="en-US" dirty="0">
              <a:solidFill>
                <a:srgbClr val="2E2D2C"/>
              </a:solidFill>
              <a:latin typeface="Calibri (MS)"/>
              <a:ea typeface="Calibri (MS)"/>
              <a:cs typeface="Calibri (MS)"/>
              <a:sym typeface="Calibri (MS)"/>
            </a:endParaRPr>
          </a:p>
          <a:p>
            <a:pPr marL="554355" lvl="1" indent="-277177" algn="l">
              <a:lnSpc>
                <a:spcPts val="2160"/>
              </a:lnSpc>
              <a:buFont typeface="Arial"/>
              <a:buChar char="•"/>
            </a:pPr>
            <a:endParaRPr lang="en-US" sz="1800" dirty="0">
              <a:solidFill>
                <a:srgbClr val="2E2D2C"/>
              </a:solidFill>
              <a:latin typeface="Calibri (MS)"/>
              <a:ea typeface="Calibri (MS)"/>
              <a:cs typeface="Calibri (MS)"/>
              <a:sym typeface="Calibri (MS)"/>
            </a:endParaRPr>
          </a:p>
          <a:p>
            <a:pPr marL="646747" lvl="1" indent="-323374" algn="l">
              <a:lnSpc>
                <a:spcPts val="2520"/>
              </a:lnSpc>
            </a:pPr>
            <a:endParaRPr lang="en-US" sz="1800" dirty="0">
              <a:solidFill>
                <a:srgbClr val="2E2D2C"/>
              </a:solidFill>
              <a:latin typeface="Calibri (MS)"/>
              <a:ea typeface="Calibri (MS)"/>
              <a:cs typeface="Calibri (MS)"/>
              <a:sym typeface="Calibri (MS)"/>
            </a:endParaRPr>
          </a:p>
        </p:txBody>
      </p:sp>
      <p:sp>
        <p:nvSpPr>
          <p:cNvPr id="47" name="TextBox 47"/>
          <p:cNvSpPr txBox="1"/>
          <p:nvPr/>
        </p:nvSpPr>
        <p:spPr>
          <a:xfrm>
            <a:off x="14347050" y="6941896"/>
            <a:ext cx="3873903" cy="2558393"/>
          </a:xfrm>
          <a:prstGeom prst="rect">
            <a:avLst/>
          </a:prstGeom>
        </p:spPr>
        <p:txBody>
          <a:bodyPr lIns="0" tIns="0" rIns="0" bIns="0" rtlCol="0" anchor="t">
            <a:spAutoFit/>
          </a:bodyPr>
          <a:lstStyle/>
          <a:p>
            <a:pPr marL="388620" lvl="1" indent="-194310" algn="l">
              <a:lnSpc>
                <a:spcPts val="2160"/>
              </a:lnSpc>
              <a:buFont typeface="Arial"/>
              <a:buChar char="•"/>
            </a:pPr>
            <a:r>
              <a:rPr lang="en-US" sz="1800" dirty="0">
                <a:solidFill>
                  <a:srgbClr val="2E2D2C"/>
                </a:solidFill>
                <a:latin typeface="Calibri (MS)"/>
                <a:ea typeface="Calibri (MS)"/>
                <a:cs typeface="Calibri (MS)"/>
                <a:sym typeface="Calibri (MS)"/>
              </a:rPr>
              <a:t>{{OUTILS}}</a:t>
            </a:r>
          </a:p>
          <a:p>
            <a:pPr marL="388620" lvl="1" indent="-194310" algn="l">
              <a:lnSpc>
                <a:spcPts val="2160"/>
              </a:lnSpc>
              <a:buFont typeface="Arial"/>
              <a:buChar char="•"/>
            </a:pPr>
            <a:endParaRPr lang="en-US" dirty="0">
              <a:solidFill>
                <a:srgbClr val="2E2D2C"/>
              </a:solidFill>
              <a:latin typeface="Calibri (MS)"/>
              <a:ea typeface="Calibri (MS)"/>
              <a:cs typeface="Calibri (MS)"/>
              <a:sym typeface="Calibri (MS)"/>
            </a:endParaRPr>
          </a:p>
          <a:p>
            <a:pPr marL="388620" lvl="1" indent="-194310" algn="l">
              <a:lnSpc>
                <a:spcPts val="2160"/>
              </a:lnSpc>
              <a:buFont typeface="Arial"/>
              <a:buChar char="•"/>
            </a:pPr>
            <a:endParaRPr lang="en-US" sz="1800" dirty="0">
              <a:solidFill>
                <a:srgbClr val="2E2D2C"/>
              </a:solidFill>
              <a:latin typeface="Calibri (MS)"/>
              <a:ea typeface="Calibri (MS)"/>
              <a:cs typeface="Calibri (MS)"/>
              <a:sym typeface="Calibri (MS)"/>
            </a:endParaRPr>
          </a:p>
          <a:p>
            <a:pPr marL="388620" lvl="1" indent="-194310" algn="l">
              <a:lnSpc>
                <a:spcPts val="2160"/>
              </a:lnSpc>
              <a:buFont typeface="Arial"/>
              <a:buChar char="•"/>
            </a:pPr>
            <a:endParaRPr lang="en-US" dirty="0">
              <a:solidFill>
                <a:srgbClr val="2E2D2C"/>
              </a:solidFill>
              <a:latin typeface="Calibri (MS)"/>
              <a:ea typeface="Calibri (MS)"/>
              <a:cs typeface="Calibri (MS)"/>
              <a:sym typeface="Calibri (MS)"/>
            </a:endParaRPr>
          </a:p>
          <a:p>
            <a:pPr marL="388620" lvl="1" indent="-194310" algn="l">
              <a:lnSpc>
                <a:spcPts val="2160"/>
              </a:lnSpc>
              <a:buFont typeface="Arial"/>
              <a:buChar char="•"/>
            </a:pPr>
            <a:endParaRPr lang="en-US" sz="1800" dirty="0">
              <a:solidFill>
                <a:srgbClr val="2E2D2C"/>
              </a:solidFill>
              <a:latin typeface="Calibri (MS)"/>
              <a:ea typeface="Calibri (MS)"/>
              <a:cs typeface="Calibri (MS)"/>
              <a:sym typeface="Calibri (MS)"/>
            </a:endParaRPr>
          </a:p>
          <a:p>
            <a:pPr marL="388620" lvl="1" indent="-194310" algn="l">
              <a:lnSpc>
                <a:spcPts val="2160"/>
              </a:lnSpc>
              <a:buFont typeface="Arial"/>
              <a:buChar char="•"/>
            </a:pPr>
            <a:endParaRPr lang="en-US" dirty="0">
              <a:solidFill>
                <a:srgbClr val="2E2D2C"/>
              </a:solidFill>
              <a:latin typeface="Calibri (MS)"/>
              <a:ea typeface="Calibri (MS)"/>
              <a:cs typeface="Calibri (MS)"/>
              <a:sym typeface="Calibri (MS)"/>
            </a:endParaRPr>
          </a:p>
          <a:p>
            <a:pPr marL="388620" lvl="1" indent="-194310" algn="l">
              <a:lnSpc>
                <a:spcPts val="2160"/>
              </a:lnSpc>
              <a:buFont typeface="Arial"/>
              <a:buChar char="•"/>
            </a:pPr>
            <a:endParaRPr lang="en-US" sz="1800" dirty="0">
              <a:solidFill>
                <a:srgbClr val="2E2D2C"/>
              </a:solidFill>
              <a:latin typeface="Calibri (MS)"/>
              <a:ea typeface="Calibri (MS)"/>
              <a:cs typeface="Calibri (MS)"/>
              <a:sym typeface="Calibri (MS)"/>
            </a:endParaRPr>
          </a:p>
          <a:p>
            <a:pPr marL="388620" lvl="1" indent="-194310" algn="l">
              <a:lnSpc>
                <a:spcPts val="2160"/>
              </a:lnSpc>
              <a:buFont typeface="Arial"/>
              <a:buChar char="•"/>
            </a:pPr>
            <a:endParaRPr lang="en-US" sz="1800" dirty="0">
              <a:solidFill>
                <a:srgbClr val="2E2D2C"/>
              </a:solidFill>
              <a:latin typeface="Calibri (MS)"/>
              <a:ea typeface="Calibri (MS)"/>
              <a:cs typeface="Calibri (MS)"/>
              <a:sym typeface="Calibri (MS)"/>
            </a:endParaRPr>
          </a:p>
          <a:p>
            <a:pPr marL="702310" lvl="1" indent="-351155" algn="l">
              <a:lnSpc>
                <a:spcPts val="2520"/>
              </a:lnSpc>
            </a:pPr>
            <a:endParaRPr lang="en-US" sz="1800" dirty="0">
              <a:solidFill>
                <a:srgbClr val="2E2D2C"/>
              </a:solidFill>
              <a:latin typeface="Calibri (MS)"/>
              <a:ea typeface="Calibri (MS)"/>
              <a:cs typeface="Calibri (MS)"/>
              <a:sym typeface="Calibri (MS)"/>
            </a:endParaRPr>
          </a:p>
        </p:txBody>
      </p:sp>
      <p:sp>
        <p:nvSpPr>
          <p:cNvPr id="48" name="TextBox 48"/>
          <p:cNvSpPr txBox="1"/>
          <p:nvPr/>
        </p:nvSpPr>
        <p:spPr>
          <a:xfrm>
            <a:off x="602155" y="2688577"/>
            <a:ext cx="2621471" cy="3432799"/>
          </a:xfrm>
          <a:prstGeom prst="rect">
            <a:avLst/>
          </a:prstGeom>
        </p:spPr>
        <p:txBody>
          <a:bodyPr wrap="square" lIns="0" tIns="0" rIns="0" bIns="0" rtlCol="0" anchor="t">
            <a:spAutoFit/>
          </a:bodyPr>
          <a:lstStyle/>
          <a:p>
            <a:pPr algn="ctr">
              <a:lnSpc>
                <a:spcPts val="2690"/>
              </a:lnSpc>
              <a:spcBef>
                <a:spcPct val="0"/>
              </a:spcBef>
            </a:pPr>
            <a:r>
              <a:rPr lang="en-US" sz="1950" dirty="0">
                <a:solidFill>
                  <a:srgbClr val="000000"/>
                </a:solidFill>
                <a:latin typeface="Arial"/>
                <a:ea typeface="Arial"/>
                <a:cs typeface="Arial"/>
                <a:sym typeface="Arial"/>
              </a:rPr>
              <a:t>{{PHOTO}}</a:t>
            </a:r>
          </a:p>
          <a:p>
            <a:pPr algn="ctr">
              <a:lnSpc>
                <a:spcPts val="2690"/>
              </a:lnSpc>
              <a:spcBef>
                <a:spcPct val="0"/>
              </a:spcBef>
            </a:pPr>
            <a:endParaRPr lang="en-US" sz="1950" dirty="0">
              <a:solidFill>
                <a:srgbClr val="000000"/>
              </a:solidFill>
              <a:latin typeface="Arial"/>
              <a:ea typeface="Arial"/>
              <a:cs typeface="Arial"/>
              <a:sym typeface="Arial"/>
            </a:endParaRPr>
          </a:p>
          <a:p>
            <a:pPr algn="ctr">
              <a:lnSpc>
                <a:spcPts val="2690"/>
              </a:lnSpc>
              <a:spcBef>
                <a:spcPct val="0"/>
              </a:spcBef>
            </a:pPr>
            <a:endParaRPr lang="en-US" sz="1950" dirty="0">
              <a:solidFill>
                <a:srgbClr val="000000"/>
              </a:solidFill>
              <a:latin typeface="Arial"/>
              <a:ea typeface="Arial"/>
              <a:cs typeface="Arial"/>
              <a:sym typeface="Arial"/>
            </a:endParaRPr>
          </a:p>
          <a:p>
            <a:pPr algn="ctr">
              <a:lnSpc>
                <a:spcPts val="2690"/>
              </a:lnSpc>
              <a:spcBef>
                <a:spcPct val="0"/>
              </a:spcBef>
            </a:pPr>
            <a:endParaRPr lang="en-US" sz="1950" dirty="0">
              <a:solidFill>
                <a:srgbClr val="000000"/>
              </a:solidFill>
              <a:latin typeface="Arial"/>
              <a:ea typeface="Arial"/>
              <a:cs typeface="Arial"/>
              <a:sym typeface="Arial"/>
            </a:endParaRPr>
          </a:p>
          <a:p>
            <a:pPr algn="ctr">
              <a:lnSpc>
                <a:spcPts val="2690"/>
              </a:lnSpc>
              <a:spcBef>
                <a:spcPct val="0"/>
              </a:spcBef>
            </a:pPr>
            <a:endParaRPr lang="en-US" sz="1950" dirty="0">
              <a:solidFill>
                <a:srgbClr val="000000"/>
              </a:solidFill>
              <a:latin typeface="Arial"/>
              <a:ea typeface="Arial"/>
              <a:cs typeface="Arial"/>
              <a:sym typeface="Arial"/>
            </a:endParaRPr>
          </a:p>
          <a:p>
            <a:pPr algn="ctr">
              <a:lnSpc>
                <a:spcPts val="2690"/>
              </a:lnSpc>
              <a:spcBef>
                <a:spcPct val="0"/>
              </a:spcBef>
            </a:pPr>
            <a:endParaRPr lang="en-US" sz="1950" dirty="0">
              <a:solidFill>
                <a:srgbClr val="000000"/>
              </a:solidFill>
              <a:latin typeface="Arial"/>
              <a:ea typeface="Arial"/>
              <a:cs typeface="Arial"/>
              <a:sym typeface="Arial"/>
            </a:endParaRPr>
          </a:p>
          <a:p>
            <a:pPr algn="ctr">
              <a:lnSpc>
                <a:spcPts val="2690"/>
              </a:lnSpc>
              <a:spcBef>
                <a:spcPct val="0"/>
              </a:spcBef>
            </a:pPr>
            <a:endParaRPr lang="en-US" sz="1950" dirty="0">
              <a:solidFill>
                <a:srgbClr val="000000"/>
              </a:solidFill>
              <a:latin typeface="Arial"/>
              <a:ea typeface="Arial"/>
              <a:cs typeface="Arial"/>
              <a:sym typeface="Arial"/>
            </a:endParaRPr>
          </a:p>
          <a:p>
            <a:pPr algn="ctr">
              <a:lnSpc>
                <a:spcPts val="2690"/>
              </a:lnSpc>
              <a:spcBef>
                <a:spcPct val="0"/>
              </a:spcBef>
            </a:pPr>
            <a:endParaRPr lang="en-US" sz="1950" dirty="0">
              <a:solidFill>
                <a:srgbClr val="000000"/>
              </a:solidFill>
              <a:latin typeface="Arial"/>
              <a:ea typeface="Arial"/>
              <a:cs typeface="Arial"/>
              <a:sym typeface="Arial"/>
            </a:endParaRPr>
          </a:p>
          <a:p>
            <a:pPr algn="ctr">
              <a:lnSpc>
                <a:spcPts val="2690"/>
              </a:lnSpc>
              <a:spcBef>
                <a:spcPct val="0"/>
              </a:spcBef>
            </a:pPr>
            <a:endParaRPr lang="en-US" sz="1950" dirty="0">
              <a:solidFill>
                <a:srgbClr val="000000"/>
              </a:solidFill>
              <a:latin typeface="Arial"/>
              <a:ea typeface="Arial"/>
              <a:cs typeface="Arial"/>
              <a:sym typeface="Arial"/>
            </a:endParaRPr>
          </a:p>
          <a:p>
            <a:pPr algn="ctr">
              <a:lnSpc>
                <a:spcPts val="2690"/>
              </a:lnSpc>
              <a:spcBef>
                <a:spcPct val="0"/>
              </a:spcBef>
            </a:pPr>
            <a:endParaRPr lang="en-US" sz="1950" dirty="0">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54</Words>
  <Application>Microsoft Office PowerPoint</Application>
  <PresentationFormat>Personnalisé</PresentationFormat>
  <Paragraphs>63</Paragraphs>
  <Slides>1</Slides>
  <Notes>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vt:i4>
      </vt:variant>
    </vt:vector>
  </HeadingPairs>
  <TitlesOfParts>
    <vt:vector size="7" baseType="lpstr">
      <vt:lpstr>Arial</vt:lpstr>
      <vt:lpstr>Calibri</vt:lpstr>
      <vt:lpstr>Arial Bold</vt:lpstr>
      <vt:lpstr>Calibri (MS) Bold</vt:lpstr>
      <vt:lpstr>Calibri (MS)</vt:lpstr>
      <vt:lpstr>Office Theme</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 Profile_OFF.pptx</dc:title>
  <cp:lastModifiedBy>Aya FARMATI</cp:lastModifiedBy>
  <cp:revision>2</cp:revision>
  <dcterms:created xsi:type="dcterms:W3CDTF">2006-08-16T00:00:00Z</dcterms:created>
  <dcterms:modified xsi:type="dcterms:W3CDTF">2026-07-28T15:42:47Z</dcterms:modified>
  <dc:identifier>DAHQrihl2Og</dc:identifier>
</cp:coreProperties>
</file>