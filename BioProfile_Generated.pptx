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Arial MT Pro Bold" panose="020B0604020202020204" charset="0"/>
      <p:regular r:id="rId3"/>
    </p:embeddedFont>
    <p:embeddedFont>
      <p:font typeface="Calibri" panose="020F0502020204030204" pitchFamily="34" charset="0"/>
      <p:regular r:id="rId4"/>
      <p:bold r:id="rId5"/>
      <p:italic r:id="rId6"/>
      <p:boldItalic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8" d="100"/>
          <a:sy n="78" d="100"/>
        </p:scale>
        <p:origin x="132"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font" Target="fonts/font2.fntdata"/><Relationship Id="rId5" Type="http://schemas.openxmlformats.org/officeDocument/2006/relationships/font" Target="fonts/font3.fntdata"/><Relationship Id="rId6" Type="http://schemas.openxmlformats.org/officeDocument/2006/relationships/font" Target="fonts/font4.fntdata"/><Relationship Id="rId7" Type="http://schemas.openxmlformats.org/officeDocument/2006/relationships/font" Target="fonts/font5.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5213490" cy="10287000"/>
            <a:chOff x="0" y="0"/>
            <a:chExt cx="1373100" cy="2709333"/>
          </a:xfrm>
        </p:grpSpPr>
        <p:sp>
          <p:nvSpPr>
            <p:cNvPr id="3" name="Freeform 3"/>
            <p:cNvSpPr/>
            <p:nvPr/>
          </p:nvSpPr>
          <p:spPr>
            <a:xfrm>
              <a:off x="0" y="0"/>
              <a:ext cx="1373100" cy="2709333"/>
            </a:xfrm>
            <a:custGeom>
              <a:avLst/>
              <a:gdLst/>
              <a:ahLst/>
              <a:cxnLst/>
              <a:rect l="l" t="t" r="r" b="b"/>
              <a:pathLst>
                <a:path w="1373100" h="2709333">
                  <a:moveTo>
                    <a:pt x="0" y="0"/>
                  </a:moveTo>
                  <a:lnTo>
                    <a:pt x="1373100" y="0"/>
                  </a:lnTo>
                  <a:lnTo>
                    <a:pt x="1373100" y="2709333"/>
                  </a:lnTo>
                  <a:lnTo>
                    <a:pt x="0" y="2709333"/>
                  </a:lnTo>
                  <a:close/>
                </a:path>
              </a:pathLst>
            </a:custGeom>
            <a:solidFill>
              <a:srgbClr val="174564"/>
            </a:solidFill>
          </p:spPr>
        </p:sp>
        <p:sp>
          <p:nvSpPr>
            <p:cNvPr id="4" name="TextBox 4"/>
            <p:cNvSpPr txBox="1"/>
            <p:nvPr/>
          </p:nvSpPr>
          <p:spPr>
            <a:xfrm>
              <a:off x="0" y="-38100"/>
              <a:ext cx="1373100" cy="2747433"/>
            </a:xfrm>
            <a:prstGeom prst="rect">
              <a:avLst/>
            </a:prstGeom>
          </p:spPr>
          <p:txBody>
            <a:bodyPr lIns="50800" tIns="50800" rIns="50800" bIns="50800" rtlCol="0" anchor="ctr"/>
            <a:lstStyle/>
            <a:p>
              <a:pPr algn="ctr">
                <a:lnSpc>
                  <a:spcPts val="3047"/>
                </a:lnSpc>
              </a:pPr>
              <a:endParaRPr/>
            </a:p>
          </p:txBody>
        </p:sp>
      </p:grpSp>
      <p:sp>
        <p:nvSpPr>
          <p:cNvPr id="5" name="Freeform 5"/>
          <p:cNvSpPr/>
          <p:nvPr/>
        </p:nvSpPr>
        <p:spPr>
          <a:xfrm>
            <a:off x="696860" y="398160"/>
            <a:ext cx="3175352" cy="630540"/>
          </a:xfrm>
          <a:custGeom>
            <a:avLst/>
            <a:gdLst/>
            <a:ahLst/>
            <a:cxnLst/>
            <a:rect l="l" t="t" r="r" b="b"/>
            <a:pathLst>
              <a:path w="3175352" h="630540">
                <a:moveTo>
                  <a:pt x="0" y="0"/>
                </a:moveTo>
                <a:lnTo>
                  <a:pt x="3175352" y="0"/>
                </a:lnTo>
                <a:lnTo>
                  <a:pt x="3175352" y="630540"/>
                </a:lnTo>
                <a:lnTo>
                  <a:pt x="0" y="630540"/>
                </a:lnTo>
                <a:lnTo>
                  <a:pt x="0" y="0"/>
                </a:lnTo>
                <a:close/>
              </a:path>
            </a:pathLst>
          </a:custGeom>
          <a:blipFill>
            <a:blip r:embed="rId2"/>
            <a:stretch>
              <a:fillRect t="-350" b="-446"/>
            </a:stretch>
          </a:blipFill>
        </p:spPr>
        <p:txBody>
          <a:bodyPr/>
          <a:p/>
        </p:txBody>
      </p:sp>
      <p:grpSp>
        <p:nvGrpSpPr>
          <p:cNvPr id="6" name="Group 6"/>
          <p:cNvGrpSpPr/>
          <p:nvPr/>
        </p:nvGrpSpPr>
        <p:grpSpPr>
          <a:xfrm>
            <a:off x="1085817" y="1314776"/>
            <a:ext cx="3041855" cy="2754260"/>
            <a:chOff x="0" y="0"/>
            <a:chExt cx="801147" cy="725402"/>
          </a:xfrm>
        </p:grpSpPr>
        <p:sp>
          <p:nvSpPr>
            <p:cNvPr id="7" name="Freeform 7"/>
            <p:cNvSpPr/>
            <p:nvPr/>
          </p:nvSpPr>
          <p:spPr>
            <a:xfrm>
              <a:off x="0" y="0"/>
              <a:ext cx="801147" cy="725402"/>
            </a:xfrm>
            <a:custGeom>
              <a:avLst/>
              <a:gdLst/>
              <a:ahLst/>
              <a:cxnLst/>
              <a:rect l="l" t="t" r="r" b="b"/>
              <a:pathLst>
                <a:path w="801147" h="725402">
                  <a:moveTo>
                    <a:pt x="0" y="0"/>
                  </a:moveTo>
                  <a:lnTo>
                    <a:pt x="801147" y="0"/>
                  </a:lnTo>
                  <a:lnTo>
                    <a:pt x="801147" y="725402"/>
                  </a:lnTo>
                  <a:lnTo>
                    <a:pt x="0" y="725402"/>
                  </a:lnTo>
                  <a:close/>
                </a:path>
              </a:pathLst>
            </a:custGeom>
            <a:solidFill>
              <a:srgbClr val="FFFFFF"/>
            </a:solidFill>
          </p:spPr>
        </p:sp>
        <p:sp>
          <p:nvSpPr>
            <p:cNvPr id="8" name="TextBox 8"/>
            <p:cNvSpPr txBox="1"/>
            <p:nvPr/>
          </p:nvSpPr>
          <p:spPr>
            <a:xfrm>
              <a:off x="0" y="-104775"/>
              <a:ext cx="801147" cy="830177"/>
            </a:xfrm>
            <a:prstGeom prst="rect">
              <a:avLst/>
            </a:prstGeom>
          </p:spPr>
          <p:txBody>
            <a:bodyPr lIns="50800" tIns="50800" rIns="50800" bIns="50800" rtlCol="0" anchor="ctr"/>
            <a:lstStyle/>
            <a:p>
              <a:pPr algn="ctr">
                <a:lnSpc>
                  <a:spcPts val="3627"/>
                </a:lnSpc>
              </a:pPr>
              <a:endParaRPr/>
            </a:p>
          </p:txBody>
        </p:sp>
      </p:grpSp>
      <p:sp>
        <p:nvSpPr>
          <p:cNvPr id="9" name="TextBox 9"/>
          <p:cNvSpPr txBox="1"/>
          <p:nvPr/>
        </p:nvSpPr>
        <p:spPr>
          <a:xfrm>
            <a:off x="6028428" y="280770"/>
            <a:ext cx="5709336" cy="1034005"/>
          </a:xfrm>
          <a:prstGeom prst="rect">
            <a:avLst/>
          </a:prstGeom>
        </p:spPr>
        <p:txBody>
          <a:bodyPr lIns="0" tIns="0" rIns="0" bIns="0" rtlCol="0" anchor="t">
            <a:spAutoFit/>
          </a:bodyPr>
          <a:lstStyle/>
          <a:p>
            <a:pPr algn="l">
              <a:lnSpc>
                <a:spcPts val="3907"/>
              </a:lnSpc>
            </a:pPr>
            <a:r>
              <a:rPr lang="en-US" sz="2791" b="1">
                <a:solidFill>
                  <a:srgbClr val="174564"/>
                </a:solidFill>
                <a:latin typeface="Arial MT Pro Bold"/>
                <a:ea typeface="Arial MT Pro Bold"/>
                <a:cs typeface="Arial MT Pro Bold"/>
                <a:sym typeface="Arial MT Pro Bold"/>
              </a:rPr>
              <a:t>PROJETS</a:t>
            </a:r>
          </a:p>
          <a:p>
            <a:pPr algn="l">
              <a:lnSpc>
                <a:spcPts val="3907"/>
              </a:lnSpc>
            </a:pPr>
            <a:endParaRPr lang="en-US" sz="2791" b="1">
              <a:solidFill>
                <a:srgbClr val="174564"/>
              </a:solidFill>
              <a:latin typeface="Arial MT Pro Bold"/>
              <a:ea typeface="Arial MT Pro Bold"/>
              <a:cs typeface="Arial MT Pro Bold"/>
              <a:sym typeface="Arial MT Pro Bold"/>
            </a:endParaRPr>
          </a:p>
        </p:txBody>
      </p:sp>
      <p:sp>
        <p:nvSpPr>
          <p:cNvPr id="10" name="TextBox 10"/>
          <p:cNvSpPr txBox="1"/>
          <p:nvPr/>
        </p:nvSpPr>
        <p:spPr>
          <a:xfrm>
            <a:off x="6028428" y="5293360"/>
            <a:ext cx="5709336" cy="1034005"/>
          </a:xfrm>
          <a:prstGeom prst="rect">
            <a:avLst/>
          </a:prstGeom>
        </p:spPr>
        <p:txBody>
          <a:bodyPr lIns="0" tIns="0" rIns="0" bIns="0" rtlCol="0" anchor="t">
            <a:spAutoFit/>
          </a:bodyPr>
          <a:lstStyle/>
          <a:p>
            <a:pPr algn="l">
              <a:lnSpc>
                <a:spcPts val="3907"/>
              </a:lnSpc>
            </a:pPr>
            <a:r>
              <a:rPr lang="en-US" sz="2791" b="1">
                <a:solidFill>
                  <a:srgbClr val="174564"/>
                </a:solidFill>
                <a:latin typeface="Arial MT Pro Bold"/>
                <a:ea typeface="Arial MT Pro Bold"/>
                <a:cs typeface="Arial MT Pro Bold"/>
                <a:sym typeface="Arial MT Pro Bold"/>
              </a:rPr>
              <a:t>Hard Skills</a:t>
            </a:r>
          </a:p>
          <a:p>
            <a:pPr algn="l">
              <a:lnSpc>
                <a:spcPts val="3907"/>
              </a:lnSpc>
            </a:pPr>
            <a:endParaRPr lang="en-US" sz="2791" b="1">
              <a:solidFill>
                <a:srgbClr val="174564"/>
              </a:solidFill>
              <a:latin typeface="Arial MT Pro Bold"/>
              <a:ea typeface="Arial MT Pro Bold"/>
              <a:cs typeface="Arial MT Pro Bold"/>
              <a:sym typeface="Arial MT Pro Bold"/>
            </a:endParaRPr>
          </a:p>
        </p:txBody>
      </p:sp>
      <p:sp>
        <p:nvSpPr>
          <p:cNvPr id="11" name="TextBox 11"/>
          <p:cNvSpPr txBox="1"/>
          <p:nvPr/>
        </p:nvSpPr>
        <p:spPr>
          <a:xfrm>
            <a:off x="9941686" y="5293360"/>
            <a:ext cx="5709336" cy="1034005"/>
          </a:xfrm>
          <a:prstGeom prst="rect">
            <a:avLst/>
          </a:prstGeom>
        </p:spPr>
        <p:txBody>
          <a:bodyPr lIns="0" tIns="0" rIns="0" bIns="0" rtlCol="0" anchor="t">
            <a:spAutoFit/>
          </a:bodyPr>
          <a:lstStyle/>
          <a:p>
            <a:pPr algn="l">
              <a:lnSpc>
                <a:spcPts val="3907"/>
              </a:lnSpc>
            </a:pPr>
            <a:r>
              <a:rPr lang="en-US" sz="2791" b="1">
                <a:solidFill>
                  <a:srgbClr val="174564"/>
                </a:solidFill>
                <a:latin typeface="Arial MT Pro Bold"/>
                <a:ea typeface="Arial MT Pro Bold"/>
                <a:cs typeface="Arial MT Pro Bold"/>
                <a:sym typeface="Arial MT Pro Bold"/>
              </a:rPr>
              <a:t>Soft Skills</a:t>
            </a:r>
          </a:p>
          <a:p>
            <a:pPr algn="l">
              <a:lnSpc>
                <a:spcPts val="3907"/>
              </a:lnSpc>
            </a:pPr>
            <a:endParaRPr lang="en-US" sz="2791" b="1">
              <a:solidFill>
                <a:srgbClr val="174564"/>
              </a:solidFill>
              <a:latin typeface="Arial MT Pro Bold"/>
              <a:ea typeface="Arial MT Pro Bold"/>
              <a:cs typeface="Arial MT Pro Bold"/>
              <a:sym typeface="Arial MT Pro Bold"/>
            </a:endParaRPr>
          </a:p>
        </p:txBody>
      </p:sp>
      <p:sp>
        <p:nvSpPr>
          <p:cNvPr id="12" name="TextBox 12"/>
          <p:cNvSpPr txBox="1"/>
          <p:nvPr/>
        </p:nvSpPr>
        <p:spPr>
          <a:xfrm>
            <a:off x="13655839" y="5293360"/>
            <a:ext cx="5709336" cy="1034005"/>
          </a:xfrm>
          <a:prstGeom prst="rect">
            <a:avLst/>
          </a:prstGeom>
        </p:spPr>
        <p:txBody>
          <a:bodyPr lIns="0" tIns="0" rIns="0" bIns="0" rtlCol="0" anchor="t">
            <a:spAutoFit/>
          </a:bodyPr>
          <a:lstStyle/>
          <a:p>
            <a:pPr algn="l">
              <a:lnSpc>
                <a:spcPts val="3907"/>
              </a:lnSpc>
            </a:pPr>
            <a:r>
              <a:rPr lang="en-US" sz="2791" b="1">
                <a:solidFill>
                  <a:srgbClr val="174564"/>
                </a:solidFill>
                <a:latin typeface="Arial MT Pro Bold"/>
                <a:ea typeface="Arial MT Pro Bold"/>
                <a:cs typeface="Arial MT Pro Bold"/>
                <a:sym typeface="Arial MT Pro Bold"/>
              </a:rPr>
              <a:t>Outils &amp; Technologies</a:t>
            </a:r>
          </a:p>
          <a:p>
            <a:pPr algn="l">
              <a:lnSpc>
                <a:spcPts val="3907"/>
              </a:lnSpc>
            </a:pPr>
            <a:endParaRPr lang="en-US" sz="2791" b="1">
              <a:solidFill>
                <a:srgbClr val="174564"/>
              </a:solidFill>
              <a:latin typeface="Arial MT Pro Bold"/>
              <a:ea typeface="Arial MT Pro Bold"/>
              <a:cs typeface="Arial MT Pro Bold"/>
              <a:sym typeface="Arial MT Pro Bold"/>
            </a:endParaRPr>
          </a:p>
        </p:txBody>
      </p:sp>
      <p:sp>
        <p:nvSpPr>
          <p:cNvPr id="13" name="TextBox 13"/>
          <p:cNvSpPr txBox="1"/>
          <p:nvPr/>
        </p:nvSpPr>
        <p:spPr>
          <a:xfrm>
            <a:off x="319092" y="5762738"/>
            <a:ext cx="4849850" cy="437299"/>
          </a:xfrm>
          <a:prstGeom prst="rect">
            <a:avLst/>
          </a:prstGeom>
        </p:spPr>
        <p:txBody>
          <a:bodyPr wrap="square" lIns="0" tIns="0" rIns="0" bIns="0" rtlCol="0" anchor="t">
            <a:spAutoFit/>
          </a:bodyPr>
          <a:lstStyle/>
          <a:p>
            <a:pPr algn="l">
              <a:lnSpc>
                <a:spcPts val="3627"/>
              </a:lnSpc>
            </a:pPr>
            <a:r>
              <a:rPr lang="en-US" sz="2400" b="1" dirty="0">
                <a:solidFill>
                  <a:srgbClr val="FF52BA"/>
                </a:solidFill>
                <a:latin typeface="Arial MT Pro Bold"/>
                <a:ea typeface="Arial MT Pro Bold"/>
                <a:cs typeface="Arial MT Pro Bold"/>
                <a:sym typeface="Arial MT Pro Bold"/>
              </a:rPr>
              <a:t>DISPONIBILITÉ : </a:t>
            </a:r>
            <a:r>
              <a:rPr lang="en-US" sz="2400" b="1" dirty="0">
                <a:solidFill>
                  <a:srgbClr val="FFFFFF"/>
                </a:solidFill>
                <a:latin typeface="Arial MT Pro Bold"/>
                <a:ea typeface="Arial MT Pro Bold"/>
                <a:cs typeface="Arial MT Pro Bold"/>
                <a:sym typeface="Arial MT Pro Bold"/>
              </a:rPr>
              <a:t>immédiate</a:t>
            </a:r>
          </a:p>
        </p:txBody>
      </p:sp>
      <p:sp>
        <p:nvSpPr>
          <p:cNvPr id="14" name="TextBox 14"/>
          <p:cNvSpPr txBox="1"/>
          <p:nvPr/>
        </p:nvSpPr>
        <p:spPr>
          <a:xfrm>
            <a:off x="319092" y="6797004"/>
            <a:ext cx="5709336" cy="430567"/>
          </a:xfrm>
          <a:prstGeom prst="rect">
            <a:avLst/>
          </a:prstGeom>
        </p:spPr>
        <p:txBody>
          <a:bodyPr lIns="0" tIns="0" rIns="0" bIns="0" rtlCol="0" anchor="t">
            <a:spAutoFit/>
          </a:bodyPr>
          <a:lstStyle/>
          <a:p>
            <a:pPr algn="l">
              <a:lnSpc>
                <a:spcPts val="3627"/>
              </a:lnSpc>
            </a:pPr>
            <a:r>
              <a:rPr lang="en-US" sz="2400" b="1" dirty="0">
                <a:solidFill>
                  <a:srgbClr val="FF52BA"/>
                </a:solidFill>
                <a:latin typeface="Arial MT Pro Bold"/>
                <a:ea typeface="Arial MT Pro Bold"/>
                <a:cs typeface="Arial MT Pro Bold"/>
                <a:sym typeface="Arial MT Pro Bold"/>
              </a:rPr>
              <a:t>LANGUES:</a:t>
            </a:r>
          </a:p>
        </p:txBody>
      </p:sp>
      <p:sp>
        <p:nvSpPr>
          <p:cNvPr id="15" name="TextBox 15"/>
          <p:cNvSpPr txBox="1"/>
          <p:nvPr/>
        </p:nvSpPr>
        <p:spPr>
          <a:xfrm>
            <a:off x="1085817" y="4250010"/>
            <a:ext cx="3041855" cy="496160"/>
          </a:xfrm>
          <a:prstGeom prst="rect">
            <a:avLst/>
          </a:prstGeom>
        </p:spPr>
        <p:txBody>
          <a:bodyPr lIns="0" tIns="0" rIns="0" bIns="0" rtlCol="0" anchor="t" wrap="square">
            <a:spAutoFit/>
          </a:bodyPr>
          <a:lstStyle/>
          <a:p>
            <a:pPr algn="ctr">
              <a:lnSpc>
                <a:spcPts val="3627"/>
              </a:lnSpc>
              <a:spcBef>
                <a:spcPct val="0"/>
              </a:spcBef>
            </a:pPr>
            <a:r>
              <a:rPr lang="en-US" sz="2591" b="1" dirty="0">
                <a:solidFill>
                  <a:srgbClr val="FFFFFF"/>
                </a:solidFill>
                <a:latin typeface="Arial MT Pro Bold"/>
                <a:ea typeface="Arial MT Pro Bold"/>
                <a:cs typeface="Arial MT Pro Bold"/>
                <a:sym typeface="Arial MT Pro Bold"/>
              </a:rPr>
              <a:t>Maryam Mouaki</a:t>
            </a:r>
          </a:p>
        </p:txBody>
      </p:sp>
      <p:sp>
        <p:nvSpPr>
          <p:cNvPr id="16" name="TextBox 16"/>
          <p:cNvSpPr txBox="1"/>
          <p:nvPr/>
        </p:nvSpPr>
        <p:spPr>
          <a:xfrm>
            <a:off x="807859" y="7188389"/>
            <a:ext cx="3751544" cy="2324960"/>
          </a:xfrm>
          <a:prstGeom prst="rect">
            <a:avLst/>
          </a:prstGeom>
        </p:spPr>
        <p:txBody>
          <a:bodyPr lIns="0" tIns="0" rIns="0" bIns="0" rtlCol="0" anchor="t" wrap="square">
            <a:spAutoFit/>
          </a:bodyPr>
          <a:lstStyle/>
          <a:p>
            <a:pPr marL="0" lvl="0" indent="0" algn="l">
              <a:lnSpc>
                <a:spcPts val="3627"/>
              </a:lnSpc>
              <a:spcBef>
                <a:spcPct val="0"/>
              </a:spcBef>
            </a:pPr>
            <a:r>
              <a:rPr lang="en-US" sz="2300" b="1" u="none" strike="noStrike" dirty="0">
                <a:solidFill>
                  <a:srgbClr val="FFFFFF"/>
                </a:solidFill>
                <a:latin typeface="Arial MT Pro Bold"/>
                <a:ea typeface="Arial MT Pro Bold"/>
                <a:cs typeface="Arial MT Pro Bold"/>
                <a:sym typeface="Arial MT Pro Bold"/>
              </a:rPr>
              <a:t>Arabe (Langue maternelle)
Anglais (C1 - Rosetta Stone)
Français (B2 - Rosetta Stone)
Espagnol (A1 - Rosetta Stone)</a:t>
            </a:r>
          </a:p>
          <a:p>
            <a:pPr marL="0" lvl="0" indent="0" algn="l">
              <a:lnSpc>
                <a:spcPts val="3627"/>
              </a:lnSpc>
              <a:spcBef>
                <a:spcPct val="0"/>
              </a:spcBef>
            </a:pPr>
            <a:endParaRPr lang="en-US" sz="2400" b="1" u="none" strike="noStrike" dirty="0">
              <a:solidFill>
                <a:srgbClr val="FFFFFF"/>
              </a:solidFill>
              <a:latin typeface="Arial MT Pro Bold"/>
              <a:ea typeface="Arial MT Pro Bold"/>
              <a:cs typeface="Arial MT Pro Bold"/>
              <a:sym typeface="Arial MT Pro Bold"/>
            </a:endParaRPr>
          </a:p>
          <a:p>
            <a:pPr marL="0" lvl="0" indent="0" algn="l">
              <a:lnSpc>
                <a:spcPts val="3627"/>
              </a:lnSpc>
              <a:spcBef>
                <a:spcPct val="0"/>
              </a:spcBef>
            </a:pPr>
            <a:endParaRPr lang="en-US" sz="2400" b="1" u="none" strike="noStrike" dirty="0">
              <a:solidFill>
                <a:srgbClr val="FFFFFF"/>
              </a:solidFill>
              <a:latin typeface="Arial MT Pro Bold"/>
              <a:ea typeface="Arial MT Pro Bold"/>
              <a:cs typeface="Arial MT Pro Bold"/>
              <a:sym typeface="Arial MT Pro Bold"/>
            </a:endParaRPr>
          </a:p>
          <a:p>
            <a:pPr marL="0" lvl="0" indent="0" algn="l">
              <a:lnSpc>
                <a:spcPts val="3627"/>
              </a:lnSpc>
              <a:spcBef>
                <a:spcPct val="0"/>
              </a:spcBef>
            </a:pPr>
            <a:endParaRPr lang="en-US" sz="2400" b="1" u="none" strike="noStrike" dirty="0">
              <a:solidFill>
                <a:srgbClr val="FFFFFF"/>
              </a:solidFill>
              <a:latin typeface="Arial MT Pro Bold"/>
              <a:ea typeface="Arial MT Pro Bold"/>
              <a:cs typeface="Arial MT Pro Bold"/>
              <a:sym typeface="Arial MT Pro Bold"/>
            </a:endParaRPr>
          </a:p>
          <a:p>
            <a:pPr marL="0" lvl="0" indent="0" algn="l">
              <a:lnSpc>
                <a:spcPts val="3627"/>
              </a:lnSpc>
              <a:spcBef>
                <a:spcPct val="0"/>
              </a:spcBef>
            </a:pPr>
            <a:endParaRPr lang="en-US" sz="2400" b="1" u="none" strike="noStrike" dirty="0">
              <a:solidFill>
                <a:srgbClr val="FFFFFF"/>
              </a:solidFill>
              <a:latin typeface="Arial MT Pro Bold"/>
              <a:ea typeface="Arial MT Pro Bold"/>
              <a:cs typeface="Arial MT Pro Bold"/>
              <a:sym typeface="Arial MT Pro Bold"/>
            </a:endParaRPr>
          </a:p>
        </p:txBody>
      </p:sp>
      <p:sp>
        <p:nvSpPr>
          <p:cNvPr id="17" name="TextBox 17"/>
          <p:cNvSpPr txBox="1"/>
          <p:nvPr/>
        </p:nvSpPr>
        <p:spPr>
          <a:xfrm>
            <a:off x="6185963" y="933450"/>
            <a:ext cx="11583532" cy="4225515"/>
          </a:xfrm>
          <a:prstGeom prst="rect">
            <a:avLst/>
          </a:prstGeom>
        </p:spPr>
        <p:txBody>
          <a:bodyPr lIns="0" tIns="0" rIns="0" bIns="0" rtlCol="0" anchor="t" wrap="square">
            <a:normAutofit/>
          </a:bodyPr>
          <a:lstStyle/>
          <a:p>
            <a:pPr algn="ctr">
              <a:lnSpc>
                <a:spcPts val="3347"/>
              </a:lnSpc>
              <a:spcBef>
                <a:spcPct val="0"/>
              </a:spcBef>
            </a:pPr>
          </a:p>
          <a:p>
            <a:pPr>
              <a:defRPr sz="1600" b="1">
                <a:solidFill>
                  <a:srgbClr val="FF69B4"/>
                </a:solidFill>
                <a:latin typeface="Arial MT Pro Bold"/>
              </a:defRPr>
            </a:pPr>
            <a:r>
              <a:t>Plateforme de Collecte et Gestion d’Appels d’Offres Publics</a:t>
            </a:r>
          </a:p>
          <a:p>
            <a:pPr>
              <a:defRPr sz="1300" b="1">
                <a:solidFill>
                  <a:srgbClr val="000000"/>
                </a:solidFill>
                <a:latin typeface="Arial MT Pro Bold"/>
              </a:defRPr>
            </a:pPr>
            <a:r>
              <a:t>Développement d’une plateforme backend pour la collecte, le stockage et la gestion d’appels d’offres publics via web scraping et API REST. Utilisation de FastAPI, MongoDB, Docker, Docker Compose, Python, Pandas, APScheduler.</a:t>
            </a:r>
          </a:p>
          <a:p>
            <a:pPr>
              <a:defRPr sz="800"/>
            </a:pPr>
          </a:p>
          <a:p>
            <a:pPr>
              <a:defRPr sz="1600" b="1">
                <a:solidFill>
                  <a:srgbClr val="FF69B4"/>
                </a:solidFill>
                <a:latin typeface="Arial MT Pro Bold"/>
              </a:defRPr>
            </a:pPr>
            <a:r>
              <a:t>Système de Collecte et Recherche de Données Sanctionnées</a:t>
            </a:r>
          </a:p>
          <a:p>
            <a:pPr>
              <a:defRPr sz="1300" b="1">
                <a:solidFill>
                  <a:srgbClr val="000000"/>
                </a:solidFill>
                <a:latin typeface="Arial MT Pro Bold"/>
              </a:defRPr>
            </a:pPr>
            <a:r>
              <a:t>Conception d’un système utilisant Prefect pour l’orchestration, Elasticsearch pour l’indexation, et FastAPI pour une API de recherche.</a:t>
            </a:r>
          </a:p>
          <a:p>
            <a:pPr>
              <a:defRPr sz="800"/>
            </a:pPr>
          </a:p>
          <a:p>
            <a:pPr>
              <a:defRPr sz="1600" b="1">
                <a:solidFill>
                  <a:srgbClr val="FF69B4"/>
                </a:solidFill>
                <a:latin typeface="Arial MT Pro Bold"/>
              </a:defRPr>
            </a:pPr>
            <a:r>
              <a:t>Modèle Prédiction de Quantité d’Importation de Produits</a:t>
            </a:r>
          </a:p>
          <a:p>
            <a:pPr>
              <a:defRPr sz="1300" b="1">
                <a:solidFill>
                  <a:srgbClr val="000000"/>
                </a:solidFill>
                <a:latin typeface="Arial MT Pro Bold"/>
              </a:defRPr>
            </a:pPr>
            <a:r>
              <a:t>Développement d’un modèle de machine learning basé sur XGBoost pour prédire la quantité à importer de chaque produit identifié par un CODE SH, en exploitant des données économiques et douanières. Évaluation du modèle avec des métriques de régression (RMSE, MAE, R2) et visualisation des résultats.</a:t>
            </a:r>
          </a:p>
          <a:p>
            <a:pPr>
              <a:defRPr sz="800"/>
            </a:pPr>
          </a:p>
          <a:p>
            <a:pPr>
              <a:defRPr sz="1600" b="1">
                <a:solidFill>
                  <a:srgbClr val="FF69B4"/>
                </a:solidFill>
                <a:latin typeface="Arial MT Pro Bold"/>
              </a:defRPr>
            </a:pPr>
            <a:r>
              <a:t>Agent de sécurité IA</a:t>
            </a:r>
          </a:p>
          <a:p>
            <a:pPr>
              <a:defRPr sz="1300" b="1">
                <a:solidFill>
                  <a:srgbClr val="000000"/>
                </a:solidFill>
                <a:latin typeface="Arial MT Pro Bold"/>
              </a:defRPr>
            </a:pPr>
            <a:r>
              <a:t>Développement d’un agent de sécurité IA pour détecter et classifier les intrusions. Participation à un Hackathon et obtention de la deuxième place.</a:t>
            </a:r>
          </a:p>
        </p:txBody>
      </p:sp>
      <p:sp>
        <p:nvSpPr>
          <p:cNvPr id="18" name="TextBox 18"/>
          <p:cNvSpPr txBox="1"/>
          <p:nvPr/>
        </p:nvSpPr>
        <p:spPr>
          <a:xfrm>
            <a:off x="6028428" y="5805283"/>
            <a:ext cx="3115572" cy="4225515"/>
          </a:xfrm>
          <a:prstGeom prst="rect">
            <a:avLst/>
          </a:prstGeom>
        </p:spPr>
        <p:txBody>
          <a:bodyPr lIns="0" tIns="0" rIns="0" bIns="0" rtlCol="0" anchor="t" wrap="square">
            <a:spAutoFit/>
          </a:bodyPr>
          <a:lstStyle/>
          <a:p>
            <a:pPr marL="0" lvl="0" indent="0" algn="ctr">
              <a:lnSpc>
                <a:spcPts val="3347"/>
              </a:lnSpc>
              <a:spcBef>
                <a:spcPct val="0"/>
              </a:spcBef>
            </a:pPr>
            <a:r>
              <a:rPr lang="en-US" sz="1400" b="1" u="none" strike="noStrike" dirty="0">
                <a:solidFill>
                  <a:srgbClr val="000000"/>
                </a:solidFill>
                <a:latin typeface="Arial MT Pro Bold"/>
                <a:ea typeface="Arial MT Pro Bold"/>
                <a:cs typeface="Arial MT Pro Bold"/>
                <a:sym typeface="Arial MT Pro Bold"/>
              </a:rPr>
              <a:t>Python, Java, C, SQL, PL/SQL, HTML, CSS, JavaScript, MongoDB, Oracle, Elasticsearch, PostgreSQL, Neo4j, Agno, Langchaine, Fast Scikit-learn, Pandas, NumPy, Streamlit, Matplotlib, Prefect, APScheduler, XGBoost, Seaborn</a:t>
            </a: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p:txBody>
      </p:sp>
      <p:sp>
        <p:nvSpPr>
          <p:cNvPr id="19" name="TextBox 19"/>
          <p:cNvSpPr txBox="1"/>
          <p:nvPr/>
        </p:nvSpPr>
        <p:spPr>
          <a:xfrm>
            <a:off x="9530636" y="5805283"/>
            <a:ext cx="3265717" cy="4225515"/>
          </a:xfrm>
          <a:prstGeom prst="rect">
            <a:avLst/>
          </a:prstGeom>
        </p:spPr>
        <p:txBody>
          <a:bodyPr lIns="0" tIns="0" rIns="0" bIns="0" rtlCol="0" anchor="t" wrap="square">
            <a:spAutoFit/>
          </a:bodyPr>
          <a:lstStyle/>
          <a:p>
            <a:pPr marL="0" lvl="0" indent="0" algn="ctr">
              <a:lnSpc>
                <a:spcPts val="3347"/>
              </a:lnSpc>
              <a:spcBef>
                <a:spcPct val="0"/>
              </a:spcBef>
            </a:pPr>
            <a:r>
              <a:rPr lang="en-US" sz="1400" b="1" u="none" strike="noStrike" dirty="0">
                <a:solidFill>
                  <a:srgbClr val="000000"/>
                </a:solidFill>
                <a:latin typeface="Arial MT Pro Bold"/>
                <a:ea typeface="Arial MT Pro Bold"/>
                <a:cs typeface="Arial MT Pro Bold"/>
                <a:sym typeface="Arial MT Pro Bold"/>
              </a:rPr>
              <a:t/>
            </a: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p:txBody>
      </p:sp>
      <p:sp>
        <p:nvSpPr>
          <p:cNvPr id="20" name="TextBox 20"/>
          <p:cNvSpPr txBox="1"/>
          <p:nvPr/>
        </p:nvSpPr>
        <p:spPr>
          <a:xfrm>
            <a:off x="14223688" y="5805283"/>
            <a:ext cx="3035612" cy="4225515"/>
          </a:xfrm>
          <a:prstGeom prst="rect">
            <a:avLst/>
          </a:prstGeom>
        </p:spPr>
        <p:txBody>
          <a:bodyPr lIns="0" tIns="0" rIns="0" bIns="0" rtlCol="0" anchor="t" wrap="square">
            <a:spAutoFit/>
          </a:bodyPr>
          <a:lstStyle/>
          <a:p>
            <a:pPr marL="0" lvl="0" indent="0" algn="ctr">
              <a:lnSpc>
                <a:spcPts val="3347"/>
              </a:lnSpc>
              <a:spcBef>
                <a:spcPct val="0"/>
              </a:spcBef>
            </a:pPr>
            <a:r>
              <a:rPr lang="en-US" sz="1400" b="1" u="none" strike="noStrike" dirty="0">
                <a:solidFill>
                  <a:srgbClr val="000000"/>
                </a:solidFill>
                <a:latin typeface="Arial MT Pro Bold"/>
                <a:ea typeface="Arial MT Pro Bold"/>
                <a:cs typeface="Arial MT Pro Bold"/>
                <a:sym typeface="Arial MT Pro Bold"/>
              </a:rPr>
              <a:t>MinIO, Hadoop, Kafka, Docker, Docker Compose, Prefect, Power Bi, Git, GitHub, LaTeX, Matlab, Maple</a:t>
            </a: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a:p>
            <a:pPr marL="0" lvl="0" indent="0" algn="ctr">
              <a:lnSpc>
                <a:spcPts val="3347"/>
              </a:lnSpc>
              <a:spcBef>
                <a:spcPct val="0"/>
              </a:spcBef>
            </a:pPr>
            <a:endParaRPr lang="en-US" sz="2391" b="1" u="none" strike="noStrike" dirty="0">
              <a:solidFill>
                <a:srgbClr val="000000"/>
              </a:solidFill>
              <a:latin typeface="Arial MT Pro Bold"/>
              <a:ea typeface="Arial MT Pro Bold"/>
              <a:cs typeface="Arial MT Pro Bold"/>
              <a:sym typeface="Arial MT Pro Bold"/>
            </a:endParaRPr>
          </a:p>
        </p:txBody>
      </p:sp>
      <p:pic>
        <p:nvPicPr>
          <p:cNvPr id="22" name="Picture 21" descr="temp_photo.png"/>
          <p:cNvPicPr>
            <a:picLocks noChangeAspect="1"/>
          </p:cNvPicPr>
          <p:nvPr/>
        </p:nvPicPr>
        <p:blipFill>
          <a:blip r:embed="rId3"/>
          <a:stretch>
            <a:fillRect/>
          </a:stretch>
        </p:blipFill>
        <p:spPr>
          <a:xfrm>
            <a:off x="1085817" y="1357995"/>
            <a:ext cx="3041855" cy="25491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36</Words>
  <Application>Microsoft Office PowerPoint</Application>
  <PresentationFormat>Personnalisé</PresentationFormat>
  <Paragraphs>46</Paragraphs>
  <Slides>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Calibri</vt:lpstr>
      <vt:lpstr>Arial</vt:lpstr>
      <vt:lpstr>Arial MT Pro Bold</vt:lpstr>
      <vt:lpstr>Office Theme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BioPofile_Template</dc:title>
  <cp:lastModifiedBy>Aya FARMATI</cp:lastModifiedBy>
  <cp:revision>2</cp:revision>
  <dcterms:created xsi:type="dcterms:W3CDTF">2006-08-16T00:00:00Z</dcterms:created>
  <dcterms:modified xsi:type="dcterms:W3CDTF">2026-07-27T15:42:49Z</dcterms:modified>
  <dc:identifier>DAHQkuc4zXc</dc:identifier>
</cp:coreProperties>
</file>