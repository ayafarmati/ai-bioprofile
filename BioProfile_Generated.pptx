
<file path=[Content_Types].xml><?xml version="1.0" encoding="utf-8"?>
<Types xmlns="http://schemas.openxmlformats.org/package/2006/content-types">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p:sldMasterIdLst>
    <p:sldMasterId id="2147483648" r:id="rId1"/>
  </p:sldMasterIdLst>
  <p:sldIdLst>
    <p:sldId id="256" r:id="rId2"/>
  </p:sldIdLst>
  <p:sldSz cx="18288000" cy="10287000"/>
  <p:notesSz cx="6858000" cy="9144000"/>
  <p:embeddedFontLst>
    <p:embeddedFont>
      <p:font typeface="Arial MT Pro Bold" panose="020B0604020202020204" charset="0"/>
      <p:regular r:id="rId3"/>
    </p:embeddedFont>
    <p:embeddedFont>
      <p:font typeface="Calibri" panose="020F0502020204030204" pitchFamily="34" charset="0"/>
      <p:regular r:id="rId4"/>
      <p:bold r:id="rId5"/>
      <p:italic r:id="rId6"/>
      <p:boldItalic r:id="rId7"/>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autoAdjust="0"/>
    <p:restoredTop sz="94622" autoAdjust="0"/>
  </p:normalViewPr>
  <p:slideViewPr>
    <p:cSldViewPr>
      <p:cViewPr varScale="1">
        <p:scale>
          <a:sx n="78" d="100"/>
          <a:sy n="78" d="100"/>
        </p:scale>
        <p:origin x="132" y="12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font" Target="fonts/font1.fntdata"/><Relationship Id="rId4" Type="http://schemas.openxmlformats.org/officeDocument/2006/relationships/font" Target="fonts/font2.fntdata"/><Relationship Id="rId5" Type="http://schemas.openxmlformats.org/officeDocument/2006/relationships/font" Target="fonts/font3.fntdata"/><Relationship Id="rId6" Type="http://schemas.openxmlformats.org/officeDocument/2006/relationships/font" Target="fonts/font4.fntdata"/><Relationship Id="rId7" Type="http://schemas.openxmlformats.org/officeDocument/2006/relationships/font" Target="fonts/font5.fntdata"/><Relationship Id="rId8" Type="http://schemas.openxmlformats.org/officeDocument/2006/relationships/presProps" Target="presProps.xml"/><Relationship Id="rId9" Type="http://schemas.openxmlformats.org/officeDocument/2006/relationships/viewProps" Target="viewProps.xml"/><Relationship Id="rId10" Type="http://schemas.openxmlformats.org/officeDocument/2006/relationships/theme" Target="theme/theme1.xml"/><Relationship Id="rId11"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1D8BD707-D9CF-40AE-B4C6-C98DA3205C09}" type="datetimeFigureOut">
              <a:rPr lang="en-US" smtClean="0"/>
              <a:pPr/>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1D8BD707-D9CF-40AE-B4C6-C98DA3205C09}" type="datetimeFigureOut">
              <a:rPr lang="en-US" smtClean="0"/>
              <a:pPr/>
              <a:t>7/27/2026</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1D8BD707-D9CF-40AE-B4C6-C98DA3205C09}" type="datetimeFigureOut">
              <a:rPr lang="en-US" smtClean="0"/>
              <a:pPr/>
              <a:t>7/27/2026</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7/27/2026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7/27/2026</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1D8BD707-D9CF-40AE-B4C6-C98DA3205C09}" type="datetimeFigureOut">
              <a:rPr lang="en-US" smtClean="0"/>
              <a:pPr/>
              <a:t>7/27/2026</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‹N°›</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7/27/2026</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‹N°›</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2" name="Group 2"/>
          <p:cNvGrpSpPr/>
          <p:nvPr/>
        </p:nvGrpSpPr>
        <p:grpSpPr>
          <a:xfrm>
            <a:off x="0" y="0"/>
            <a:ext cx="5213490" cy="10287000"/>
            <a:chOff x="0" y="0"/>
            <a:chExt cx="1373100" cy="2709333"/>
          </a:xfrm>
        </p:grpSpPr>
        <p:sp>
          <p:nvSpPr>
            <p:cNvPr id="3" name="Freeform 3"/>
            <p:cNvSpPr/>
            <p:nvPr/>
          </p:nvSpPr>
          <p:spPr>
            <a:xfrm>
              <a:off x="0" y="0"/>
              <a:ext cx="1373100" cy="2709333"/>
            </a:xfrm>
            <a:custGeom>
              <a:avLst/>
              <a:gdLst/>
              <a:ahLst/>
              <a:cxnLst/>
              <a:rect l="l" t="t" r="r" b="b"/>
              <a:pathLst>
                <a:path w="1373100" h="2709333">
                  <a:moveTo>
                    <a:pt x="0" y="0"/>
                  </a:moveTo>
                  <a:lnTo>
                    <a:pt x="1373100" y="0"/>
                  </a:lnTo>
                  <a:lnTo>
                    <a:pt x="1373100" y="2709333"/>
                  </a:lnTo>
                  <a:lnTo>
                    <a:pt x="0" y="2709333"/>
                  </a:lnTo>
                  <a:close/>
                </a:path>
              </a:pathLst>
            </a:custGeom>
            <a:solidFill>
              <a:srgbClr val="174564"/>
            </a:solidFill>
          </p:spPr>
        </p:sp>
        <p:sp>
          <p:nvSpPr>
            <p:cNvPr id="4" name="TextBox 4"/>
            <p:cNvSpPr txBox="1"/>
            <p:nvPr/>
          </p:nvSpPr>
          <p:spPr>
            <a:xfrm>
              <a:off x="0" y="-38100"/>
              <a:ext cx="1373100" cy="2747433"/>
            </a:xfrm>
            <a:prstGeom prst="rect">
              <a:avLst/>
            </a:prstGeom>
          </p:spPr>
          <p:txBody>
            <a:bodyPr lIns="50800" tIns="50800" rIns="50800" bIns="50800" rtlCol="0" anchor="ctr"/>
            <a:lstStyle/>
            <a:p>
              <a:pPr algn="ctr">
                <a:lnSpc>
                  <a:spcPts val="3047"/>
                </a:lnSpc>
              </a:pPr>
              <a:endParaRPr/>
            </a:p>
          </p:txBody>
        </p:sp>
      </p:grpSp>
      <p:sp>
        <p:nvSpPr>
          <p:cNvPr id="5" name="Freeform 5"/>
          <p:cNvSpPr/>
          <p:nvPr/>
        </p:nvSpPr>
        <p:spPr>
          <a:xfrm>
            <a:off x="696860" y="398160"/>
            <a:ext cx="3175352" cy="630540"/>
          </a:xfrm>
          <a:custGeom>
            <a:avLst/>
            <a:gdLst/>
            <a:ahLst/>
            <a:cxnLst/>
            <a:rect l="l" t="t" r="r" b="b"/>
            <a:pathLst>
              <a:path w="3175352" h="630540">
                <a:moveTo>
                  <a:pt x="0" y="0"/>
                </a:moveTo>
                <a:lnTo>
                  <a:pt x="3175352" y="0"/>
                </a:lnTo>
                <a:lnTo>
                  <a:pt x="3175352" y="630540"/>
                </a:lnTo>
                <a:lnTo>
                  <a:pt x="0" y="630540"/>
                </a:lnTo>
                <a:lnTo>
                  <a:pt x="0" y="0"/>
                </a:lnTo>
                <a:close/>
              </a:path>
            </a:pathLst>
          </a:custGeom>
          <a:blipFill>
            <a:blip r:embed="rId2"/>
            <a:stretch>
              <a:fillRect t="-350" b="-446"/>
            </a:stretch>
          </a:blipFill>
        </p:spPr>
        <p:txBody>
          <a:bodyPr/>
          <a:p/>
        </p:txBody>
      </p:sp>
      <p:grpSp>
        <p:nvGrpSpPr>
          <p:cNvPr id="6" name="Group 6"/>
          <p:cNvGrpSpPr/>
          <p:nvPr/>
        </p:nvGrpSpPr>
        <p:grpSpPr>
          <a:xfrm>
            <a:off x="1085817" y="1314776"/>
            <a:ext cx="3041855" cy="2754260"/>
            <a:chOff x="0" y="0"/>
            <a:chExt cx="801147" cy="725402"/>
          </a:xfrm>
        </p:grpSpPr>
        <p:sp>
          <p:nvSpPr>
            <p:cNvPr id="7" name="Freeform 7"/>
            <p:cNvSpPr/>
            <p:nvPr/>
          </p:nvSpPr>
          <p:spPr>
            <a:xfrm>
              <a:off x="0" y="0"/>
              <a:ext cx="801147" cy="725402"/>
            </a:xfrm>
            <a:custGeom>
              <a:avLst/>
              <a:gdLst/>
              <a:ahLst/>
              <a:cxnLst/>
              <a:rect l="l" t="t" r="r" b="b"/>
              <a:pathLst>
                <a:path w="801147" h="725402">
                  <a:moveTo>
                    <a:pt x="0" y="0"/>
                  </a:moveTo>
                  <a:lnTo>
                    <a:pt x="801147" y="0"/>
                  </a:lnTo>
                  <a:lnTo>
                    <a:pt x="801147" y="725402"/>
                  </a:lnTo>
                  <a:lnTo>
                    <a:pt x="0" y="725402"/>
                  </a:lnTo>
                  <a:close/>
                </a:path>
              </a:pathLst>
            </a:custGeom>
            <a:solidFill>
              <a:srgbClr val="FFFFFF"/>
            </a:solidFill>
          </p:spPr>
        </p:sp>
        <p:sp>
          <p:nvSpPr>
            <p:cNvPr id="8" name="TextBox 8"/>
            <p:cNvSpPr txBox="1"/>
            <p:nvPr/>
          </p:nvSpPr>
          <p:spPr>
            <a:xfrm>
              <a:off x="0" y="-104775"/>
              <a:ext cx="801147" cy="830177"/>
            </a:xfrm>
            <a:prstGeom prst="rect">
              <a:avLst/>
            </a:prstGeom>
          </p:spPr>
          <p:txBody>
            <a:bodyPr lIns="50800" tIns="50800" rIns="50800" bIns="50800" rtlCol="0" anchor="ctr"/>
            <a:lstStyle/>
            <a:p>
              <a:pPr algn="ctr">
                <a:lnSpc>
                  <a:spcPts val="3627"/>
                </a:lnSpc>
              </a:pPr>
              <a:endParaRPr/>
            </a:p>
          </p:txBody>
        </p:sp>
      </p:grpSp>
      <p:sp>
        <p:nvSpPr>
          <p:cNvPr id="9" name="TextBox 9"/>
          <p:cNvSpPr txBox="1"/>
          <p:nvPr/>
        </p:nvSpPr>
        <p:spPr>
          <a:xfrm>
            <a:off x="6028428" y="28077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PROJETS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0" name="TextBox 10"/>
          <p:cNvSpPr txBox="1"/>
          <p:nvPr/>
        </p:nvSpPr>
        <p:spPr>
          <a:xfrm>
            <a:off x="6028428"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Hard Skills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1" name="TextBox 11"/>
          <p:cNvSpPr txBox="1"/>
          <p:nvPr/>
        </p:nvSpPr>
        <p:spPr>
          <a:xfrm>
            <a:off x="9941686"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Soft Skills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2" name="TextBox 12"/>
          <p:cNvSpPr txBox="1"/>
          <p:nvPr/>
        </p:nvSpPr>
        <p:spPr>
          <a:xfrm>
            <a:off x="13655839" y="5293360"/>
            <a:ext cx="5709336" cy="1034005"/>
          </a:xfrm>
          <a:prstGeom prst="rect">
            <a:avLst/>
          </a:prstGeom>
        </p:spPr>
        <p:txBody>
          <a:bodyPr lIns="0" tIns="0" rIns="0" bIns="0" rtlCol="0" anchor="t">
            <a:spAutoFit/>
          </a:bodyPr>
          <a:lstStyle/>
          <a:p>
            <a:pPr algn="l">
              <a:lnSpc>
                <a:spcPts val="3907"/>
              </a:lnSpc>
            </a:pPr>
            <a:r>
              <a:rPr lang="en-US" sz="2791" b="1">
                <a:solidFill>
                  <a:srgbClr val="174564"/>
                </a:solidFill>
                <a:latin typeface="Arial MT Pro Bold"/>
                <a:ea typeface="Arial MT Pro Bold"/>
                <a:cs typeface="Arial MT Pro Bold"/>
                <a:sym typeface="Arial MT Pro Bold"/>
              </a:rPr>
              <a:t>Outils &amp; Technologies</a:t>
            </a:r>
          </a:p>
          <a:p>
            <a:pPr algn="l">
              <a:lnSpc>
                <a:spcPts val="3907"/>
              </a:lnSpc>
            </a:pPr>
            <a:endParaRPr lang="en-US" sz="2791" b="1">
              <a:solidFill>
                <a:srgbClr val="174564"/>
              </a:solidFill>
              <a:latin typeface="Arial MT Pro Bold"/>
              <a:ea typeface="Arial MT Pro Bold"/>
              <a:cs typeface="Arial MT Pro Bold"/>
              <a:sym typeface="Arial MT Pro Bold"/>
            </a:endParaRPr>
          </a:p>
        </p:txBody>
      </p:sp>
      <p:sp>
        <p:nvSpPr>
          <p:cNvPr id="13" name="TextBox 13"/>
          <p:cNvSpPr txBox="1"/>
          <p:nvPr/>
        </p:nvSpPr>
        <p:spPr>
          <a:xfrm>
            <a:off x="319092" y="5762738"/>
            <a:ext cx="5709336" cy="953360"/>
          </a:xfrm>
          <a:prstGeom prst="rect">
            <a:avLst/>
          </a:prstGeom>
        </p:spPr>
        <p:txBody>
          <a:bodyPr lIns="0" tIns="0" rIns="0" bIns="0" rtlCol="0" anchor="t">
            <a:spAutoFit/>
          </a:bodyPr>
          <a:lstStyle/>
          <a:p>
            <a:pPr algn="l">
              <a:lnSpc>
                <a:spcPts val="3627"/>
              </a:lnSpc>
            </a:pPr>
          </a:p>
          <a:p>
            <a:pPr>
              <a:defRPr sz="2200" b="1">
                <a:solidFill>
                  <a:srgbClr val="000000"/>
                </a:solidFill>
              </a:defRPr>
            </a:pPr>
            <a:r>
              <a:t>DISPONIBILITÉ:   immédiate</a:t>
            </a:r>
          </a:p>
        </p:txBody>
      </p:sp>
      <p:sp>
        <p:nvSpPr>
          <p:cNvPr id="14" name="TextBox 14"/>
          <p:cNvSpPr txBox="1"/>
          <p:nvPr/>
        </p:nvSpPr>
        <p:spPr>
          <a:xfrm>
            <a:off x="319092" y="6797004"/>
            <a:ext cx="5709336" cy="496160"/>
          </a:xfrm>
          <a:prstGeom prst="rect">
            <a:avLst/>
          </a:prstGeom>
        </p:spPr>
        <p:txBody>
          <a:bodyPr lIns="0" tIns="0" rIns="0" bIns="0" rtlCol="0" anchor="t">
            <a:spAutoFit/>
          </a:bodyPr>
          <a:lstStyle/>
          <a:p>
            <a:pPr algn="l">
              <a:lnSpc>
                <a:spcPts val="3627"/>
              </a:lnSpc>
            </a:pPr>
            <a:r>
              <a:rPr lang="en-US" sz="2591" b="1">
                <a:solidFill>
                  <a:srgbClr val="FF52BA"/>
                </a:solidFill>
                <a:latin typeface="Arial MT Pro Bold"/>
                <a:ea typeface="Arial MT Pro Bold"/>
                <a:cs typeface="Arial MT Pro Bold"/>
                <a:sym typeface="Arial MT Pro Bold"/>
              </a:rPr>
              <a:t>LANGUES:</a:t>
            </a:r>
          </a:p>
        </p:txBody>
      </p:sp>
      <p:sp>
        <p:nvSpPr>
          <p:cNvPr id="15" name="TextBox 15"/>
          <p:cNvSpPr txBox="1"/>
          <p:nvPr/>
        </p:nvSpPr>
        <p:spPr>
          <a:xfrm>
            <a:off x="1372186" y="4240485"/>
            <a:ext cx="2469118" cy="509050"/>
          </a:xfrm>
          <a:prstGeom prst="rect">
            <a:avLst/>
          </a:prstGeom>
        </p:spPr>
        <p:txBody>
          <a:bodyPr lIns="0" tIns="0" rIns="0" bIns="0" rtlCol="0" anchor="t">
            <a:spAutoFit/>
          </a:bodyPr>
          <a:lstStyle/>
          <a:p>
            <a:pPr algn="ctr">
              <a:lnSpc>
                <a:spcPts val="4187"/>
              </a:lnSpc>
              <a:spcBef>
                <a:spcPct val="0"/>
              </a:spcBef>
            </a:pPr>
            <a:endParaRPr lang="en-US" sz="2991" b="1" dirty="0">
              <a:solidFill>
                <a:srgbClr val="FFFFFF"/>
              </a:solidFill>
              <a:latin typeface="Arial MT Pro Bold"/>
              <a:ea typeface="Arial MT Pro Bold"/>
              <a:cs typeface="Arial MT Pro Bold"/>
              <a:sym typeface="Arial MT Pro Bold"/>
            </a:endParaRPr>
          </a:p>
        </p:txBody>
      </p:sp>
      <p:pic>
        <p:nvPicPr>
          <p:cNvPr id="16" name="Picture 15" descr="temp_photo.png"/>
          <p:cNvPicPr>
            <a:picLocks noChangeAspect="1"/>
          </p:cNvPicPr>
          <p:nvPr/>
        </p:nvPicPr>
        <p:blipFill>
          <a:blip r:embed="rId3"/>
          <a:stretch>
            <a:fillRect/>
          </a:stretch>
        </p:blipFill>
        <p:spPr>
          <a:xfrm>
            <a:off x="1085817" y="1314776"/>
            <a:ext cx="3041855" cy="2754260"/>
          </a:xfrm>
          <a:prstGeom prst="rect">
            <a:avLst/>
          </a:prstGeom>
        </p:spPr>
      </p:pic>
      <p:sp>
        <p:nvSpPr>
          <p:cNvPr id="17" name="TextBox 16"/>
          <p:cNvSpPr txBox="1"/>
          <p:nvPr/>
        </p:nvSpPr>
        <p:spPr>
          <a:xfrm>
            <a:off x="1180138" y="4240485"/>
            <a:ext cx="2853214" cy="562200"/>
          </a:xfrm>
          <a:prstGeom prst="rect">
            <a:avLst/>
          </a:prstGeom>
          <a:noFill/>
        </p:spPr>
        <p:txBody>
          <a:bodyPr wrap="square">
            <a:spAutoFit/>
          </a:bodyPr>
          <a:lstStyle/>
          <a:p/>
          <a:p>
            <a:pPr algn="ctr">
              <a:defRPr sz="3000" b="1">
                <a:solidFill>
                  <a:srgbClr val="FFFFFF"/>
                </a:solidFill>
              </a:defRPr>
            </a:pPr>
            <a:r>
              <a:t>Maryam Mouaki</a:t>
            </a:r>
          </a:p>
        </p:txBody>
      </p:sp>
      <p:sp>
        <p:nvSpPr>
          <p:cNvPr id="18" name="TextBox 17"/>
          <p:cNvSpPr txBox="1"/>
          <p:nvPr/>
        </p:nvSpPr>
        <p:spPr>
          <a:xfrm>
            <a:off x="1180138" y="4840485"/>
            <a:ext cx="3000000" cy="500000"/>
          </a:xfrm>
          <a:prstGeom prst="rect">
            <a:avLst/>
          </a:prstGeom>
          <a:noFill/>
        </p:spPr>
        <p:txBody>
          <a:bodyPr wrap="square">
            <a:spAutoFit/>
          </a:bodyPr>
          <a:lstStyle/>
          <a:p/>
          <a:p>
            <a:pPr algn="ctr">
              <a:defRPr sz="2000" b="0">
                <a:solidFill>
                  <a:srgbClr val="C8C8C8"/>
                </a:solidFill>
              </a:defRPr>
            </a:pPr>
            <a:r>
              <a:t>Etudiante en deuxième année du cycle Big Data et Systèmes d’Information</a:t>
            </a:r>
          </a:p>
        </p:txBody>
      </p:sp>
      <p:sp>
        <p:nvSpPr>
          <p:cNvPr id="19" name="TextBox 18"/>
          <p:cNvSpPr txBox="1"/>
          <p:nvPr/>
        </p:nvSpPr>
        <p:spPr>
          <a:xfrm>
            <a:off x="588266" y="7000000"/>
            <a:ext cx="4036957" cy="1785964"/>
          </a:xfrm>
          <a:prstGeom prst="rect">
            <a:avLst/>
          </a:prstGeom>
          <a:noFill/>
        </p:spPr>
        <p:txBody>
          <a:bodyPr wrap="square">
            <a:spAutoFit/>
          </a:bodyPr>
          <a:lstStyle/>
          <a:p/>
          <a:p>
            <a:pPr>
              <a:defRPr sz="2000" b="1">
                <a:solidFill>
                  <a:srgbClr val="000000"/>
                </a:solidFill>
              </a:defRPr>
            </a:pPr>
            <a:r>
              <a:t>{'arabe': 'Langue maternelle', 'anglais': 'C1 (Rosetta Stone)', 'français': 'B2 (Rosetta Stone)', 'espagnol': 'A1 (Rosetta Stone)'}</a:t>
            </a:r>
          </a:p>
        </p:txBody>
      </p:sp>
      <p:sp>
        <p:nvSpPr>
          <p:cNvPr id="20" name="TextBox 19"/>
          <p:cNvSpPr txBox="1"/>
          <p:nvPr/>
        </p:nvSpPr>
        <p:spPr>
          <a:xfrm>
            <a:off x="6388294" y="1000000"/>
            <a:ext cx="11297755" cy="4000000"/>
          </a:xfrm>
          <a:prstGeom prst="rect">
            <a:avLst/>
          </a:prstGeom>
          <a:noFill/>
        </p:spPr>
        <p:txBody>
          <a:bodyPr wrap="square">
            <a:spAutoFit/>
          </a:bodyPr>
          <a:lstStyle/>
          <a:p/>
          <a:p>
            <a:pPr>
              <a:defRPr sz="2200" b="1">
                <a:solidFill>
                  <a:srgbClr val="000000"/>
                </a:solidFill>
              </a:defRPr>
            </a:pPr>
            <a:r>
              <a:t>Plateforme de Collecte et Gestion d’Appels d’Offres Publics</a:t>
            </a:r>
          </a:p>
          <a:p>
            <a:pPr>
              <a:defRPr sz="1800" b="0">
                <a:solidFill>
                  <a:srgbClr val="000000"/>
                </a:solidFill>
              </a:defRPr>
            </a:pPr>
            <a:r>
              <a:t>Développement d’une plateforme backend pour la collecte, le stockage et la gestion d’appels d’offres publics via web scraping et API REST. Utilisation de FastAPI, MongoDB, Docker, Docker Compose, Python, Pandas, APScheduler.</a:t>
            </a:r>
          </a:p>
          <a:p>
            <a:pPr>
              <a:defRPr sz="1400"/>
            </a:pPr>
          </a:p>
          <a:p>
            <a:pPr>
              <a:defRPr sz="2200" b="1">
                <a:solidFill>
                  <a:srgbClr val="000000"/>
                </a:solidFill>
              </a:defRPr>
            </a:pPr>
            <a:r>
              <a:t>Système de Collecte et Recherche de Données Sanctionnées</a:t>
            </a:r>
          </a:p>
          <a:p>
            <a:pPr>
              <a:defRPr sz="1800" b="0">
                <a:solidFill>
                  <a:srgbClr val="000000"/>
                </a:solidFill>
              </a:defRPr>
            </a:pPr>
            <a:r>
              <a:t>Conception d’un système utilisant Prefect pour l’orchestration, Elasticsearch pour l’indexation, et FastAPI pour une API de recherche.</a:t>
            </a:r>
          </a:p>
          <a:p>
            <a:pPr>
              <a:defRPr sz="1400"/>
            </a:pPr>
          </a:p>
          <a:p>
            <a:pPr>
              <a:defRPr sz="2200" b="1">
                <a:solidFill>
                  <a:srgbClr val="000000"/>
                </a:solidFill>
              </a:defRPr>
            </a:pPr>
            <a:r>
              <a:t>Modèle Prédiction de Quantité d’Importation de Produits</a:t>
            </a:r>
          </a:p>
          <a:p>
            <a:pPr>
              <a:defRPr sz="1800" b="0">
                <a:solidFill>
                  <a:srgbClr val="000000"/>
                </a:solidFill>
              </a:defRPr>
            </a:pPr>
            <a:r>
              <a:t>Développement d’un modèle de machine learning basé sur XGBoost pour prédire la quantité à importer de chaque produit identifié par un CODE SH, en exploitant des données économiques et douanières. Évaluation du modèle avec des métriques de régression (RMSE, MAE, R2) et visualisation des résultats.</a:t>
            </a:r>
          </a:p>
          <a:p>
            <a:pPr>
              <a:defRPr sz="1400"/>
            </a:pPr>
          </a:p>
        </p:txBody>
      </p:sp>
      <p:sp>
        <p:nvSpPr>
          <p:cNvPr id="21" name="TextBox 20"/>
          <p:cNvSpPr txBox="1"/>
          <p:nvPr/>
        </p:nvSpPr>
        <p:spPr>
          <a:xfrm>
            <a:off x="5821465" y="5815490"/>
            <a:ext cx="3115572" cy="4132468"/>
          </a:xfrm>
          <a:prstGeom prst="rect">
            <a:avLst/>
          </a:prstGeom>
          <a:noFill/>
        </p:spPr>
        <p:txBody>
          <a:bodyPr wrap="square">
            <a:spAutoFit/>
          </a:bodyPr>
          <a:lstStyle/>
          <a:p/>
          <a:p>
            <a:pPr>
              <a:defRPr sz="1800" b="1">
                <a:solidFill>
                  <a:srgbClr val="000000"/>
                </a:solidFill>
              </a:defRPr>
            </a:pPr>
            <a:r>
              <a:t>Python, Java, C, SQL, PL/SQL, HTML, CSS, JavaScript, MongoDB, Oracle, Elasticsearch, PostgreSQL, Neo4j, Agno, Langchaine, Fast Scikit-learn, Pandas, NumPy, Streamlit, Matplotlib, Prefect, APScheduler, XGBoost, Seaborn</a:t>
            </a:r>
          </a:p>
        </p:txBody>
      </p:sp>
      <p:sp>
        <p:nvSpPr>
          <p:cNvPr id="22" name="TextBox 21"/>
          <p:cNvSpPr txBox="1"/>
          <p:nvPr/>
        </p:nvSpPr>
        <p:spPr>
          <a:xfrm>
            <a:off x="9546637" y="6020278"/>
            <a:ext cx="3565954" cy="3722893"/>
          </a:xfrm>
          <a:prstGeom prst="rect">
            <a:avLst/>
          </a:prstGeom>
          <a:noFill/>
        </p:spPr>
        <p:txBody>
          <a:bodyPr wrap="square">
            <a:spAutoFit/>
          </a:bodyPr>
          <a:lstStyle/>
          <a:p/>
          <a:p>
            <a:pPr>
              <a:defRPr sz="1800" b="1">
                <a:solidFill>
                  <a:srgbClr val="000000"/>
                </a:solidFill>
              </a:defRPr>
            </a:pPr>
            <a:r>
              <a:t>Communication, Travail en équipe</a:t>
            </a:r>
          </a:p>
        </p:txBody>
      </p:sp>
      <p:sp>
        <p:nvSpPr>
          <p:cNvPr id="23" name="TextBox 22"/>
          <p:cNvSpPr txBox="1"/>
          <p:nvPr/>
        </p:nvSpPr>
        <p:spPr>
          <a:xfrm>
            <a:off x="13655839" y="5944982"/>
            <a:ext cx="3962469" cy="3313318"/>
          </a:xfrm>
          <a:prstGeom prst="rect">
            <a:avLst/>
          </a:prstGeom>
          <a:noFill/>
        </p:spPr>
        <p:txBody>
          <a:bodyPr wrap="square">
            <a:spAutoFit/>
          </a:bodyPr>
          <a:lstStyle/>
          <a:p/>
          <a:p>
            <a:pPr>
              <a:defRPr sz="1800" b="1">
                <a:solidFill>
                  <a:srgbClr val="000000"/>
                </a:solidFill>
              </a:defRPr>
            </a:pPr>
            <a:r>
              <a:t>MinIO, Hadoop, Kafka, Docker, Docker Compose, Prefect, Power Bi, Git, GitHub, LaTeX, Matlab, Maple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12</Words>
  <Application>Microsoft Office PowerPoint</Application>
  <PresentationFormat>Personnalisé</PresentationFormat>
  <Paragraphs>6</Paragraphs>
  <Slides>1</Slides>
  <Notes>0</Notes>
  <HiddenSlides>0</HiddenSlides>
  <MMClips>0</MMClips>
  <ScaleCrop>false</ScaleCrop>
  <HeadingPairs>
    <vt:vector size="6" baseType="variant">
      <vt:variant>
        <vt:lpstr>Polices utilisées</vt:lpstr>
      </vt:variant>
      <vt:variant>
        <vt:i4>3</vt:i4>
      </vt:variant>
      <vt:variant>
        <vt:lpstr>Thème</vt:lpstr>
      </vt:variant>
      <vt:variant>
        <vt:i4>1</vt:i4>
      </vt:variant>
      <vt:variant>
        <vt:lpstr>Titres des diapositives</vt:lpstr>
      </vt:variant>
      <vt:variant>
        <vt:i4>1</vt:i4>
      </vt:variant>
    </vt:vector>
  </HeadingPairs>
  <TitlesOfParts>
    <vt:vector size="5" baseType="lpstr">
      <vt:lpstr>Arial MT Pro Bold</vt:lpstr>
      <vt:lpstr>Calibri</vt:lpstr>
      <vt:lpstr>Arial</vt:lpstr>
      <vt:lpstr>Office Theme</vt:lpstr>
      <vt:lpstr>Présentation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BioPofile_Template</dc:title>
  <cp:lastModifiedBy>Aya FARMATI</cp:lastModifiedBy>
  <cp:revision>2</cp:revision>
  <dcterms:created xsi:type="dcterms:W3CDTF">2006-08-16T00:00:00Z</dcterms:created>
  <dcterms:modified xsi:type="dcterms:W3CDTF">2026-07-27T13:24:15Z</dcterms:modified>
  <dc:identifier>DAHQkuc4zXc</dc:identifier>
</cp:coreProperties>
</file>