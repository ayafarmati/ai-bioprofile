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Arial MT Pro Bold" panose="020B0604020202020204" charset="0"/>
      <p:regular r:id="rId3"/>
    </p:embeddedFont>
    <p:embeddedFont>
      <p:font typeface="Calibri" panose="020F0502020204030204" pitchFamily="34" charset="0"/>
      <p:regular r:id="rId4"/>
      <p:bold r:id="rId5"/>
      <p:italic r:id="rId6"/>
      <p:boldItalic r:id="rId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8" d="100"/>
          <a:sy n="78" d="100"/>
        </p:scale>
        <p:origin x="132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213490" cy="10287000"/>
            <a:chOff x="0" y="0"/>
            <a:chExt cx="1373100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3100" cy="2709333"/>
            </a:xfrm>
            <a:custGeom>
              <a:avLst/>
              <a:gdLst/>
              <a:ahLst/>
              <a:cxnLst/>
              <a:rect l="l" t="t" r="r" b="b"/>
              <a:pathLst>
                <a:path w="1373100" h="2709333">
                  <a:moveTo>
                    <a:pt x="0" y="0"/>
                  </a:moveTo>
                  <a:lnTo>
                    <a:pt x="1373100" y="0"/>
                  </a:lnTo>
                  <a:lnTo>
                    <a:pt x="1373100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7456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73100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47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696860" y="398160"/>
            <a:ext cx="3175352" cy="630540"/>
          </a:xfrm>
          <a:custGeom>
            <a:avLst/>
            <a:gdLst/>
            <a:ahLst/>
            <a:cxnLst/>
            <a:rect l="l" t="t" r="r" b="b"/>
            <a:pathLst>
              <a:path w="3175352" h="630540">
                <a:moveTo>
                  <a:pt x="0" y="0"/>
                </a:moveTo>
                <a:lnTo>
                  <a:pt x="3175352" y="0"/>
                </a:lnTo>
                <a:lnTo>
                  <a:pt x="3175352" y="630540"/>
                </a:lnTo>
                <a:lnTo>
                  <a:pt x="0" y="6305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50" b="-446"/>
            </a:stretch>
          </a:blipFill>
        </p:spPr>
        <p:txBody>
          <a:bodyPr/>
          <a:p/>
        </p:txBody>
      </p:sp>
      <p:grpSp>
        <p:nvGrpSpPr>
          <p:cNvPr id="6" name="Group 6"/>
          <p:cNvGrpSpPr/>
          <p:nvPr/>
        </p:nvGrpSpPr>
        <p:grpSpPr>
          <a:xfrm>
            <a:off x="1085817" y="1314776"/>
            <a:ext cx="3041855" cy="2754260"/>
            <a:chOff x="0" y="0"/>
            <a:chExt cx="801147" cy="72540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01147" cy="725402"/>
            </a:xfrm>
            <a:custGeom>
              <a:avLst/>
              <a:gdLst/>
              <a:ahLst/>
              <a:cxnLst/>
              <a:rect l="l" t="t" r="r" b="b"/>
              <a:pathLst>
                <a:path w="801147" h="725402">
                  <a:moveTo>
                    <a:pt x="0" y="0"/>
                  </a:moveTo>
                  <a:lnTo>
                    <a:pt x="801147" y="0"/>
                  </a:lnTo>
                  <a:lnTo>
                    <a:pt x="801147" y="725402"/>
                  </a:lnTo>
                  <a:lnTo>
                    <a:pt x="0" y="72540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801147" cy="8301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27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028428" y="280770"/>
            <a:ext cx="5709336" cy="103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7"/>
              </a:lnSpc>
            </a:pPr>
            <a:r>
              <a:rPr lang="en-US" sz="2791" b="1">
                <a:solidFill>
                  <a:srgbClr val="174564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PROJETS</a:t>
            </a:r>
          </a:p>
          <a:p>
            <a:pPr algn="l">
              <a:lnSpc>
                <a:spcPts val="3907"/>
              </a:lnSpc>
            </a:pPr>
            <a:endParaRPr lang="en-US" sz="2791" b="1">
              <a:solidFill>
                <a:srgbClr val="174564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028428" y="5293360"/>
            <a:ext cx="5709336" cy="103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7"/>
              </a:lnSpc>
            </a:pPr>
            <a:r>
              <a:rPr lang="en-US" sz="2791" b="1">
                <a:solidFill>
                  <a:srgbClr val="174564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Hard Skills</a:t>
            </a:r>
          </a:p>
          <a:p>
            <a:pPr algn="l">
              <a:lnSpc>
                <a:spcPts val="3907"/>
              </a:lnSpc>
            </a:pPr>
            <a:endParaRPr lang="en-US" sz="2791" b="1">
              <a:solidFill>
                <a:srgbClr val="174564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941686" y="5293360"/>
            <a:ext cx="5709336" cy="103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7"/>
              </a:lnSpc>
            </a:pPr>
            <a:r>
              <a:rPr lang="en-US" sz="2791" b="1">
                <a:solidFill>
                  <a:srgbClr val="174564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Soft Skills</a:t>
            </a:r>
          </a:p>
          <a:p>
            <a:pPr algn="l">
              <a:lnSpc>
                <a:spcPts val="3907"/>
              </a:lnSpc>
            </a:pPr>
            <a:endParaRPr lang="en-US" sz="2791" b="1">
              <a:solidFill>
                <a:srgbClr val="174564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3655839" y="5293360"/>
            <a:ext cx="5709336" cy="103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7"/>
              </a:lnSpc>
            </a:pPr>
            <a:r>
              <a:rPr lang="en-US" sz="2791" b="1">
                <a:solidFill>
                  <a:srgbClr val="174564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Outils &amp; Technologies</a:t>
            </a:r>
          </a:p>
          <a:p>
            <a:pPr algn="l">
              <a:lnSpc>
                <a:spcPts val="3907"/>
              </a:lnSpc>
            </a:pPr>
            <a:endParaRPr lang="en-US" sz="2791" b="1">
              <a:solidFill>
                <a:srgbClr val="174564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19092" y="5762738"/>
            <a:ext cx="4849850" cy="4372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27"/>
              </a:lnSpc>
            </a:pPr>
            <a:r>
              <a:rPr lang="en-US" sz="2400" b="1" dirty="0">
                <a:solidFill>
                  <a:srgbClr val="FF52BA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DISPONIBILITÉ : </a:t>
            </a:r>
            <a:r>
              <a:rPr lang="en-US" sz="2400" b="1" dirty="0">
                <a:solidFill>
                  <a:srgbClr val="FFFFFF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immédiate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19092" y="6797004"/>
            <a:ext cx="5709336" cy="4305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7"/>
              </a:lnSpc>
            </a:pPr>
            <a:r>
              <a:rPr lang="en-US" sz="2400" b="1" dirty="0">
                <a:solidFill>
                  <a:srgbClr val="FF52BA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LANGUES: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85817" y="4250010"/>
            <a:ext cx="3041855" cy="49616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3627"/>
              </a:lnSpc>
              <a:spcBef>
                <a:spcPct val="0"/>
              </a:spcBef>
            </a:pPr>
            <a:r>
              <a:rPr lang="en-US" sz="2591" b="1" dirty="0">
                <a:solidFill>
                  <a:srgbClr val="FFFFFF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Mouaki Maryam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07859" y="7188389"/>
            <a:ext cx="3751544" cy="232496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marL="0" lvl="0" indent="0" algn="l">
              <a:lnSpc>
                <a:spcPts val="3627"/>
              </a:lnSpc>
              <a:spcBef>
                <a:spcPct val="0"/>
              </a:spcBef>
            </a:pPr>
            <a:r>
              <a:rPr lang="en-US" b="1" u="none" strike="noStrike" dirty="0">
                <a:solidFill>
                  <a:srgbClr val="FFFFFF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arabe — Langue maternelle
anglais — C1 (Rosetta Stone)
français — B2 (Rosetta Stone)
espagnol — A1 (Rosetta Stone)</a:t>
            </a:r>
          </a:p>
          <a:p>
            <a:pPr marL="0" lvl="0" indent="0" algn="l">
              <a:lnSpc>
                <a:spcPts val="3627"/>
              </a:lnSpc>
              <a:spcBef>
                <a:spcPct val="0"/>
              </a:spcBef>
            </a:pPr>
            <a:endParaRPr lang="en-US" b="1" u="none" strike="noStrike" dirty="0">
              <a:solidFill>
                <a:srgbClr val="FFFFFF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l">
              <a:lnSpc>
                <a:spcPts val="3627"/>
              </a:lnSpc>
              <a:spcBef>
                <a:spcPct val="0"/>
              </a:spcBef>
            </a:pPr>
            <a:endParaRPr lang="en-US" b="1" u="none" strike="noStrike" dirty="0">
              <a:solidFill>
                <a:srgbClr val="FFFFFF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l">
              <a:lnSpc>
                <a:spcPts val="3627"/>
              </a:lnSpc>
              <a:spcBef>
                <a:spcPct val="0"/>
              </a:spcBef>
            </a:pPr>
            <a:endParaRPr lang="en-US" b="1" u="none" strike="noStrike" dirty="0">
              <a:solidFill>
                <a:srgbClr val="FFFFFF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l">
              <a:lnSpc>
                <a:spcPts val="3627"/>
              </a:lnSpc>
              <a:spcBef>
                <a:spcPct val="0"/>
              </a:spcBef>
            </a:pPr>
            <a:endParaRPr lang="en-US" b="1" u="none" strike="noStrike" dirty="0">
              <a:solidFill>
                <a:srgbClr val="FFFFFF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185963" y="933450"/>
            <a:ext cx="11583532" cy="4225515"/>
          </a:xfrm>
          <a:prstGeom prst="rect">
            <a:avLst/>
          </a:prstGeom>
        </p:spPr>
        <p:txBody>
          <a:bodyPr lIns="0" tIns="0" rIns="0" bIns="0" rtlCol="0" anchor="t" wrap="square">
            <a:normAutofit/>
          </a:bodyPr>
          <a:lstStyle/>
          <a:p>
            <a:pPr algn="ctr">
              <a:lnSpc>
                <a:spcPts val="3347"/>
              </a:lnSpc>
              <a:spcBef>
                <a:spcPct val="0"/>
              </a:spcBef>
            </a:pPr>
          </a:p>
          <a:p>
            <a:pPr>
              <a:defRPr sz="1600" b="1">
                <a:solidFill>
                  <a:srgbClr val="FF69B4"/>
                </a:solidFill>
                <a:latin typeface="Arial MT Pro Bold"/>
              </a:defRPr>
            </a:pPr>
            <a:r>
              <a:t>Plateforme de Collecte et Gestion d’Appels d’Offres Publics</a:t>
            </a:r>
          </a:p>
          <a:p>
            <a:pPr>
              <a:defRPr sz="1300" b="1">
                <a:solidFill>
                  <a:srgbClr val="000000"/>
                </a:solidFill>
                <a:latin typeface="Arial MT Pro Bold"/>
              </a:defRPr>
            </a:pPr>
            <a:r>
              <a:t>Developpement d’une plateforme backend pour la collecte, le stockage et la gestion d’appels d’offres publics via web scraping et API REST. Utilisation de FastAPI, MongoDB, Docker, Docker Compose, Python, Pandas.</a:t>
            </a:r>
          </a:p>
          <a:p>
            <a:pPr>
              <a:defRPr sz="800"/>
            </a:pPr>
          </a:p>
          <a:p>
            <a:pPr>
              <a:defRPr sz="1600" b="1">
                <a:solidFill>
                  <a:srgbClr val="FF69B4"/>
                </a:solidFill>
                <a:latin typeface="Arial MT Pro Bold"/>
              </a:defRPr>
            </a:pPr>
            <a:r>
              <a:t>Système de Collecte et Recherche de Données Sanctionnées</a:t>
            </a:r>
          </a:p>
          <a:p>
            <a:pPr>
              <a:defRPr sz="1300" b="1">
                <a:solidFill>
                  <a:srgbClr val="000000"/>
                </a:solidFill>
                <a:latin typeface="Arial MT Pro Bold"/>
              </a:defRPr>
            </a:pPr>
            <a:r>
              <a:t>Conception d’un système utilisant Prefect pour l'orchestration, Elasticsearch pour l'indexation, et FastAPI pour une API de recherche. Utilisation de Python, Prefect, Elasticsearch, FastAPI, Levenshtein, APScheduler, Pandas, Plotly.</a:t>
            </a:r>
          </a:p>
          <a:p>
            <a:pPr>
              <a:defRPr sz="800"/>
            </a:pPr>
          </a:p>
          <a:p>
            <a:pPr>
              <a:defRPr sz="1600" b="1">
                <a:solidFill>
                  <a:srgbClr val="FF69B4"/>
                </a:solidFill>
                <a:latin typeface="Arial MT Pro Bold"/>
              </a:defRPr>
            </a:pPr>
            <a:r>
              <a:t>Modèle Prédiction de Quantité d’Importation de Produits</a:t>
            </a:r>
          </a:p>
          <a:p>
            <a:pPr>
              <a:defRPr sz="1300" b="1">
                <a:solidFill>
                  <a:srgbClr val="000000"/>
                </a:solidFill>
                <a:latin typeface="Arial MT Pro Bold"/>
              </a:defRPr>
            </a:pPr>
            <a:r>
              <a:t>Developpement d’un modèle de machine learning basé sur XGBoost pour prédire la quantité à importer de chaque produit identifié par un CODE SH, en exploitant des données économiques et douanières. Utilisation de Python, Pandas, Scikit-learn, Matplotlib, Seaborn.</a:t>
            </a:r>
          </a:p>
          <a:p>
            <a:pPr>
              <a:defRPr sz="800"/>
            </a:pPr>
          </a:p>
          <a:p>
            <a:pPr>
              <a:defRPr sz="1600" b="1">
                <a:solidFill>
                  <a:srgbClr val="FF69B4"/>
                </a:solidFill>
                <a:latin typeface="Arial MT Pro Bold"/>
              </a:defRPr>
            </a:pPr>
            <a:r>
              <a:t>RedGuard (Hackathon AI Coding Tech 2025)</a:t>
            </a:r>
          </a:p>
          <a:p>
            <a:pPr>
              <a:defRPr sz="1300" b="1">
                <a:solidFill>
                  <a:srgbClr val="000000"/>
                </a:solidFill>
                <a:latin typeface="Arial MT Pro Bold"/>
              </a:defRPr>
            </a:pPr>
            <a:r>
              <a:t>Developpement d’un agent de sécurité IA pour détecter et classifier les intrusions. Utilisation de Python, Scikit-learn , Pandas, NumPy, Streamlit.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028428" y="5805283"/>
            <a:ext cx="3115572" cy="422551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r>
              <a:rPr lang="en-US" sz="1400" b="1" u="none" strike="noStrike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Python, Java, C, SQL, PL/SQL, FastAPI, Pandas, NumPy, Streamlit, Matplotlib, Prefect, APScheduler, XGBoost, Seaborn</a:t>
            </a: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530636" y="5805283"/>
            <a:ext cx="3265717" cy="422551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r>
              <a:rPr lang="en-US" sz="1400" b="1" u="none" strike="noStrike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/>
            </a: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4223688" y="5805283"/>
            <a:ext cx="3035612" cy="422551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r>
              <a:rPr lang="en-US" sz="1400" b="1" u="none" strike="noStrike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FastAPI, MongoDB, Docker, Docker Compose, Elasticsearch, Oracle, PostgreSQL, MinIO, Hadoop, Kafka, Prefect, Power Bi, Git, GitHub, LaTeX, Matlab, Maple</a:t>
            </a: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pic>
        <p:nvPicPr>
          <p:cNvPr id="22" name="Picture 21" descr="temp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817" y="1357995"/>
            <a:ext cx="3041855" cy="25491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</Words>
  <Application>Microsoft Office PowerPoint</Application>
  <PresentationFormat>Personnalisé</PresentationFormat>
  <Paragraphs>46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 MT Pro Bold</vt:lpstr>
      <vt:lpstr>Calibri</vt:lpstr>
      <vt:lpstr>Arial</vt:lpstr>
      <vt:lpstr>Office Theme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BioPofile_Template</dc:title>
  <cp:lastModifiedBy>Aya FARMATI</cp:lastModifiedBy>
  <cp:revision>3</cp:revision>
  <dcterms:created xsi:type="dcterms:W3CDTF">2006-08-16T00:00:00Z</dcterms:created>
  <dcterms:modified xsi:type="dcterms:W3CDTF">2026-07-28T11:20:03Z</dcterms:modified>
  <dc:identifier>DAHQkuc4zXc</dc:identifier>
</cp:coreProperties>
</file>