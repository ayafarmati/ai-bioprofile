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Arial" panose="020B0604020202020204" pitchFamily="34" charset="0"/>
      <p:regular r:id="rId4"/>
    </p:embeddedFont>
    <p:embeddedFont>
      <p:font typeface="Arial Bold" panose="020B0604020202020204" charset="0"/>
      <p:regular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Calibri (MS)" panose="020B0604020202020204" charset="0"/>
      <p:regular r:id="rId10"/>
    </p:embeddedFont>
    <p:embeddedFont>
      <p:font typeface="Calibri (MS)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35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28.07.2026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‹N°›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png"/><Relationship Id="rId9" Type="http://schemas.openxmlformats.org/officeDocument/2006/relationships/image" Target="../media/image7.jpe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46963" y="845963"/>
            <a:ext cx="594065" cy="18288000"/>
            <a:chOff x="0" y="0"/>
            <a:chExt cx="792086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92099" cy="24384000"/>
            </a:xfrm>
            <a:custGeom>
              <a:avLst/>
              <a:gdLst/>
              <a:ahLst/>
              <a:cxnLst/>
              <a:rect l="l" t="t" r="r" b="b"/>
              <a:pathLst>
                <a:path w="792099" h="24384000">
                  <a:moveTo>
                    <a:pt x="0" y="0"/>
                  </a:moveTo>
                  <a:lnTo>
                    <a:pt x="792099" y="0"/>
                  </a:lnTo>
                  <a:lnTo>
                    <a:pt x="792099" y="24384000"/>
                  </a:lnTo>
                  <a:lnTo>
                    <a:pt x="0" y="24384000"/>
                  </a:lnTo>
                  <a:close/>
                </a:path>
              </a:pathLst>
            </a:custGeom>
            <a:solidFill>
              <a:srgbClr val="174564"/>
            </a:solidFill>
          </p:spPr>
          <p:txBody>
            <a:bodyPr/>
            <a:p/>
          </p:txBody>
        </p:sp>
      </p:grpSp>
      <p:grpSp>
        <p:nvGrpSpPr>
          <p:cNvPr id="4" name="Group 4"/>
          <p:cNvGrpSpPr/>
          <p:nvPr/>
        </p:nvGrpSpPr>
        <p:grpSpPr>
          <a:xfrm>
            <a:off x="269662" y="9835115"/>
            <a:ext cx="1559433" cy="309705"/>
            <a:chOff x="0" y="0"/>
            <a:chExt cx="2079244" cy="4129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79244" cy="412877"/>
            </a:xfrm>
            <a:custGeom>
              <a:avLst/>
              <a:gdLst/>
              <a:ahLst/>
              <a:cxnLst/>
              <a:rect l="l" t="t" r="r" b="b"/>
              <a:pathLst>
                <a:path w="2079244" h="412877">
                  <a:moveTo>
                    <a:pt x="0" y="0"/>
                  </a:moveTo>
                  <a:lnTo>
                    <a:pt x="2079244" y="0"/>
                  </a:lnTo>
                  <a:lnTo>
                    <a:pt x="2079244" y="412877"/>
                  </a:lnTo>
                  <a:lnTo>
                    <a:pt x="0" y="412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719"/>
              </a:stretch>
            </a:blipFill>
          </p:spPr>
          <p:txBody>
            <a:bodyPr/>
            <a:p/>
          </p:txBody>
        </p:sp>
      </p:grpSp>
      <p:grpSp>
        <p:nvGrpSpPr>
          <p:cNvPr id="6" name="Group 6"/>
          <p:cNvGrpSpPr/>
          <p:nvPr/>
        </p:nvGrpSpPr>
        <p:grpSpPr>
          <a:xfrm>
            <a:off x="1217085" y="1493387"/>
            <a:ext cx="833123" cy="106680"/>
            <a:chOff x="0" y="0"/>
            <a:chExt cx="1110831" cy="1422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10869" cy="142240"/>
            </a:xfrm>
            <a:custGeom>
              <a:avLst/>
              <a:gdLst/>
              <a:ahLst/>
              <a:cxnLst/>
              <a:rect l="l" t="t" r="r" b="b"/>
              <a:pathLst>
                <a:path w="1110869" h="142240">
                  <a:moveTo>
                    <a:pt x="0" y="0"/>
                  </a:moveTo>
                  <a:lnTo>
                    <a:pt x="1110869" y="0"/>
                  </a:lnTo>
                  <a:lnTo>
                    <a:pt x="1110869" y="142240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174564"/>
            </a:solidFill>
          </p:spPr>
          <p:txBody>
            <a:bodyPr/>
            <a:p/>
          </p:txBody>
        </p:sp>
      </p:grpSp>
      <p:sp>
        <p:nvSpPr>
          <p:cNvPr id="8" name="Freeform 8"/>
          <p:cNvSpPr/>
          <p:nvPr/>
        </p:nvSpPr>
        <p:spPr>
          <a:xfrm>
            <a:off x="-4877" y="-9525"/>
            <a:ext cx="4049420" cy="9740132"/>
          </a:xfrm>
          <a:custGeom>
            <a:avLst/>
            <a:gdLst/>
            <a:ahLst/>
            <a:cxnLst/>
            <a:rect l="l" t="t" r="r" b="b"/>
            <a:pathLst>
              <a:path w="4049420" h="9740132">
                <a:moveTo>
                  <a:pt x="0" y="0"/>
                </a:moveTo>
                <a:lnTo>
                  <a:pt x="4049421" y="0"/>
                </a:lnTo>
                <a:lnTo>
                  <a:pt x="4049421" y="9740132"/>
                </a:lnTo>
                <a:lnTo>
                  <a:pt x="0" y="97401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9" name="Freeform 9"/>
          <p:cNvSpPr/>
          <p:nvPr/>
        </p:nvSpPr>
        <p:spPr>
          <a:xfrm>
            <a:off x="4179056" y="144066"/>
            <a:ext cx="12683033" cy="663702"/>
          </a:xfrm>
          <a:custGeom>
            <a:avLst/>
            <a:gdLst/>
            <a:ahLst/>
            <a:cxnLst/>
            <a:rect l="l" t="t" r="r" b="b"/>
            <a:pathLst>
              <a:path w="12683033" h="663702">
                <a:moveTo>
                  <a:pt x="0" y="0"/>
                </a:moveTo>
                <a:lnTo>
                  <a:pt x="12683032" y="0"/>
                </a:lnTo>
                <a:lnTo>
                  <a:pt x="12683032" y="663702"/>
                </a:lnTo>
                <a:lnTo>
                  <a:pt x="0" y="6637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10" name="Group 10"/>
          <p:cNvGrpSpPr/>
          <p:nvPr/>
        </p:nvGrpSpPr>
        <p:grpSpPr>
          <a:xfrm>
            <a:off x="734044" y="527399"/>
            <a:ext cx="2384412" cy="408851"/>
            <a:chOff x="0" y="0"/>
            <a:chExt cx="3179216" cy="5451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179191" cy="545084"/>
            </a:xfrm>
            <a:custGeom>
              <a:avLst/>
              <a:gdLst/>
              <a:ahLst/>
              <a:cxnLst/>
              <a:rect l="l" t="t" r="r" b="b"/>
              <a:pathLst>
                <a:path w="3179191" h="545084">
                  <a:moveTo>
                    <a:pt x="0" y="0"/>
                  </a:moveTo>
                  <a:lnTo>
                    <a:pt x="3179191" y="0"/>
                  </a:lnTo>
                  <a:lnTo>
                    <a:pt x="3179191" y="545084"/>
                  </a:lnTo>
                  <a:lnTo>
                    <a:pt x="0" y="545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9"/>
              </a:stretch>
            </a:blipFill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545125" y="2549138"/>
            <a:ext cx="1390650" cy="73914"/>
            <a:chOff x="0" y="0"/>
            <a:chExt cx="1854200" cy="98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14" name="Group 14"/>
          <p:cNvGrpSpPr/>
          <p:nvPr/>
        </p:nvGrpSpPr>
        <p:grpSpPr>
          <a:xfrm>
            <a:off x="5090103" y="6292139"/>
            <a:ext cx="2625366" cy="446856"/>
            <a:chOff x="0" y="0"/>
            <a:chExt cx="3500488" cy="595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00501" cy="595757"/>
            </a:xfrm>
            <a:custGeom>
              <a:avLst/>
              <a:gdLst/>
              <a:ahLst/>
              <a:cxnLst/>
              <a:rect l="l" t="t" r="r" b="b"/>
              <a:pathLst>
                <a:path w="3500501" h="595757">
                  <a:moveTo>
                    <a:pt x="0" y="0"/>
                  </a:moveTo>
                  <a:lnTo>
                    <a:pt x="3500501" y="0"/>
                  </a:lnTo>
                  <a:lnTo>
                    <a:pt x="3500501" y="595757"/>
                  </a:lnTo>
                  <a:lnTo>
                    <a:pt x="0" y="595757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500488" cy="643433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SKILLS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090103" y="6706229"/>
            <a:ext cx="2625366" cy="51921"/>
            <a:chOff x="0" y="0"/>
            <a:chExt cx="3500488" cy="692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9915144" y="6292139"/>
            <a:ext cx="2625385" cy="446722"/>
            <a:chOff x="0" y="0"/>
            <a:chExt cx="3500514" cy="59563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500501" cy="595630"/>
            </a:xfrm>
            <a:custGeom>
              <a:avLst/>
              <a:gdLst/>
              <a:ahLst/>
              <a:cxnLst/>
              <a:rect l="l" t="t" r="r" b="b"/>
              <a:pathLst>
                <a:path w="3500501" h="595630">
                  <a:moveTo>
                    <a:pt x="0" y="0"/>
                  </a:moveTo>
                  <a:lnTo>
                    <a:pt x="3500501" y="0"/>
                  </a:lnTo>
                  <a:lnTo>
                    <a:pt x="3500501" y="595630"/>
                  </a:lnTo>
                  <a:lnTo>
                    <a:pt x="0" y="595630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500514" cy="64325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SKILLS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915144" y="6706229"/>
            <a:ext cx="2625385" cy="51892"/>
            <a:chOff x="0" y="0"/>
            <a:chExt cx="3500514" cy="6919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24" name="Group 24"/>
          <p:cNvGrpSpPr/>
          <p:nvPr/>
        </p:nvGrpSpPr>
        <p:grpSpPr>
          <a:xfrm>
            <a:off x="4280021" y="1342234"/>
            <a:ext cx="14032354" cy="4878000"/>
            <a:chOff x="0" y="0"/>
            <a:chExt cx="18709805" cy="6504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8709801" cy="6504000"/>
            </a:xfrm>
            <a:custGeom>
              <a:avLst/>
              <a:gdLst/>
              <a:ahLst/>
              <a:cxnLst/>
              <a:rect l="l" t="t" r="r" b="b"/>
              <a:pathLst>
                <a:path w="18709801" h="6504000">
                  <a:moveTo>
                    <a:pt x="0" y="0"/>
                  </a:moveTo>
                  <a:lnTo>
                    <a:pt x="18709801" y="0"/>
                  </a:lnTo>
                  <a:lnTo>
                    <a:pt x="18709801" y="6504000"/>
                  </a:lnTo>
                  <a:lnTo>
                    <a:pt x="0" y="6504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t="-6051" b="-6051"/>
              </a:stretch>
            </a:blipFill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8709805" cy="6551625"/>
            </a:xfrm>
            <a:prstGeom prst="rect">
              <a:avLst/>
            </a:prstGeom>
          </p:spPr>
          <p:txBody>
            <a:bodyPr lIns="0" tIns="0" rIns="0" bIns="0" rtlCol="0" anchor="ctr" wrap="square">
              <a:normAutofit/>
            </a:bodyPr>
            <a:lstStyle/>
            <a:p>
              <a:pPr marL="591026" lvl="1" indent="-295513" algn="l">
                <a:lnSpc>
                  <a:spcPts val="2690"/>
                </a:lnSpc>
                <a:buFont typeface="Arial"/>
                <a:buChar char="•"/>
              </a:pPr>
              <a:r>
                <a:rPr lang="en-US" sz="1950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Stage d'Initiation  ONDA : Aéroport international AgadirAl Massira, Maintenance &amp; Systèmes Automatisés : Étude approfondie du système de traitement des bagages (BHS) via l'architecture SCADA/IHM et supervision de l'infrastructure électrique critique (HT/BT, ASI). Aides à la Navigation : Immersion technique dans le fonctionnement des systèmes de radionavigation (ILS Cat II, VOR DME, ADSB) et des équipements de sûreté par rayons X (EDS/ETD).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 rot="5400000">
            <a:off x="8528790" y="7882785"/>
            <a:ext cx="1390650" cy="73952"/>
            <a:chOff x="0" y="0"/>
            <a:chExt cx="1854200" cy="9860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29" name="Group 29"/>
          <p:cNvGrpSpPr/>
          <p:nvPr/>
        </p:nvGrpSpPr>
        <p:grpSpPr>
          <a:xfrm>
            <a:off x="14465246" y="6292139"/>
            <a:ext cx="2625385" cy="446722"/>
            <a:chOff x="0" y="0"/>
            <a:chExt cx="3500514" cy="59563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500501" cy="595630"/>
            </a:xfrm>
            <a:custGeom>
              <a:avLst/>
              <a:gdLst/>
              <a:ahLst/>
              <a:cxnLst/>
              <a:rect l="l" t="t" r="r" b="b"/>
              <a:pathLst>
                <a:path w="3500501" h="595630">
                  <a:moveTo>
                    <a:pt x="0" y="0"/>
                  </a:moveTo>
                  <a:lnTo>
                    <a:pt x="3500501" y="0"/>
                  </a:lnTo>
                  <a:lnTo>
                    <a:pt x="3500501" y="595630"/>
                  </a:lnTo>
                  <a:lnTo>
                    <a:pt x="0" y="595630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3500514" cy="64325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TOOLS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4465246" y="6706229"/>
            <a:ext cx="2625385" cy="51892"/>
            <a:chOff x="0" y="0"/>
            <a:chExt cx="3500514" cy="6919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34" name="Group 34"/>
          <p:cNvGrpSpPr/>
          <p:nvPr/>
        </p:nvGrpSpPr>
        <p:grpSpPr>
          <a:xfrm rot="5400000">
            <a:off x="13148586" y="7882785"/>
            <a:ext cx="1390650" cy="73952"/>
            <a:chOff x="0" y="0"/>
            <a:chExt cx="1854200" cy="98603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36" name="Group 36"/>
          <p:cNvGrpSpPr/>
          <p:nvPr/>
        </p:nvGrpSpPr>
        <p:grpSpPr>
          <a:xfrm>
            <a:off x="456619" y="6070892"/>
            <a:ext cx="2939291" cy="442978"/>
            <a:chOff x="0" y="0"/>
            <a:chExt cx="3919055" cy="59063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919093" cy="590570"/>
            </a:xfrm>
            <a:custGeom>
              <a:avLst/>
              <a:gdLst/>
              <a:ahLst/>
              <a:cxnLst/>
              <a:rect l="l" t="t" r="r" b="b"/>
              <a:pathLst>
                <a:path w="3919093" h="590570">
                  <a:moveTo>
                    <a:pt x="0" y="0"/>
                  </a:moveTo>
                  <a:lnTo>
                    <a:pt x="3919093" y="0"/>
                  </a:lnTo>
                  <a:lnTo>
                    <a:pt x="3919093" y="590570"/>
                  </a:lnTo>
                  <a:lnTo>
                    <a:pt x="0" y="590570"/>
                  </a:lnTo>
                  <a:close/>
                </a:path>
              </a:pathLst>
            </a:custGeom>
            <a:solidFill>
              <a:srgbClr val="E7E6E6"/>
            </a:solidFill>
            <a:ln w="14288" cap="sq">
              <a:solidFill>
                <a:srgbClr val="174564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3919055" cy="609687"/>
            </a:xfrm>
            <a:prstGeom prst="rect">
              <a:avLst/>
            </a:prstGeom>
          </p:spPr>
          <p:txBody>
            <a:bodyPr lIns="50800" tIns="50800" rIns="50800" bIns="50800" rtlCol="0" anchor="ctr" wrap="square">
              <a:normAutofit/>
            </a:bodyPr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Disponibilité : Immédiate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15504" y="2732215"/>
            <a:ext cx="2621471" cy="3275143"/>
            <a:chOff x="0" y="0"/>
            <a:chExt cx="3495294" cy="4366857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3495294" cy="4366895"/>
            </a:xfrm>
            <a:custGeom>
              <a:avLst/>
              <a:gdLst/>
              <a:ahLst/>
              <a:cxnLst/>
              <a:rect l="l" t="t" r="r" b="b"/>
              <a:pathLst>
                <a:path w="3495294" h="4366895">
                  <a:moveTo>
                    <a:pt x="0" y="0"/>
                  </a:moveTo>
                  <a:lnTo>
                    <a:pt x="3495294" y="0"/>
                  </a:lnTo>
                  <a:lnTo>
                    <a:pt x="3495294" y="4366895"/>
                  </a:lnTo>
                  <a:lnTo>
                    <a:pt x="0" y="43668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6251" t="-76223" r="-56251"/>
              </a:stretch>
            </a:blipFill>
          </p:spPr>
          <p:txBody>
            <a:bodyPr/>
            <a:p/>
          </p:txBody>
        </p:sp>
      </p:grpSp>
      <p:sp>
        <p:nvSpPr>
          <p:cNvPr id="41" name="TextBox 41"/>
          <p:cNvSpPr txBox="1"/>
          <p:nvPr/>
        </p:nvSpPr>
        <p:spPr>
          <a:xfrm>
            <a:off x="14878669" y="9886826"/>
            <a:ext cx="3211668" cy="19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10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© SEGULA Technologies – Tous droits réservés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280021" y="93326"/>
            <a:ext cx="12331579" cy="709874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ts val="1979"/>
              </a:lnSpc>
            </a:pPr>
            <a:endParaRPr dirty="0"/>
          </a:p>
          <a:p>
            <a:pPr algn="just">
              <a:lnSpc>
                <a:spcPts val="1584"/>
              </a:lnSpc>
            </a:pP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EXPERIENCES</a:t>
            </a:r>
            <a:r>
              <a:rPr lang="en-US" sz="12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49047" y="1021785"/>
            <a:ext cx="3554397" cy="1266825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Salah Eddine TALEB</a:t>
            </a:r>
          </a:p>
          <a:p>
            <a:pPr algn="ctr">
              <a:lnSpc>
                <a:spcPts val="2520"/>
              </a:lnSpc>
            </a:pPr>
            <a:endParaRPr lang="en-US"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Etudiant en Ingénierie aéronautique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79041" y="7038775"/>
            <a:ext cx="3764547" cy="2628925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algn="l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Languages: </a:t>
            </a:r>
          </a:p>
          <a:p>
            <a:pPr algn="l">
              <a:lnSpc>
                <a:spcPts val="2520"/>
              </a:lnSpc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Arabe</a:t>
            </a: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r>
              <a:rPr sz="1500" b="1"/>
              <a:t>Français(C1)</a:t>
            </a: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r>
              <a:rPr sz="1500" b="1"/>
              <a:t>Anglais (C1)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425829" y="7019725"/>
            <a:ext cx="4580401" cy="2507097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marL="554355" lvl="1" indent="-277177" algn="l">
              <a:buFont typeface="Arial"/>
              <a:buChar char="•"/>
            </a:pPr>
            <a:r>
              <a:rPr lang="en-US" sz="10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ESP32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Automate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Ladder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Python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C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C++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Assembly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VHDL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STM32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ANSYS Fluent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Solidworks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STM32CubeIDE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TIA PORTAL</a:t>
            </a:r>
          </a:p>
          <a:p>
            <a:pPr marL="554355" lvl="1" indent="-277177" algn="l">
              <a:buFont typeface="Arial"/>
              <a:buChar char="•"/>
            </a:pPr>
            <a:r>
              <a:rPr sz="1000"/>
              <a:t>VISUAL STUDIO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488443" y="6941906"/>
            <a:ext cx="4291498" cy="2558393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lang="en-US" sz="18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Communication</a:t>
            </a: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sz="1800"/>
              <a:t>Adaptabilité</a:t>
            </a: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sz="1800"/>
              <a:t>Travail d'équipe</a:t>
            </a: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sz="1800"/>
              <a:t>Esprit d'initiative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4347050" y="6941896"/>
            <a:ext cx="3873903" cy="2558393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marL="388620" lvl="1" indent="-194310" algn="l">
              <a:buFont typeface="Arial"/>
              <a:buChar char="•"/>
            </a:pPr>
            <a:r>
              <a:rPr lang="en-US" sz="13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BMS 3S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OpenCV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ESP32CAM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Bluetooth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HTTP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TCP/IP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K210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AprilTag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écran OLED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voix bidirectionnelle</a:t>
            </a:r>
          </a:p>
          <a:p>
            <a:pPr marL="388620" lvl="1" indent="-194310" algn="l">
              <a:buFont typeface="Arial"/>
              <a:buChar char="•"/>
            </a:pPr>
            <a:r>
              <a:rPr sz="1300"/>
              <a:t>YOLA</a:t>
            </a:r>
          </a:p>
        </p:txBody>
      </p:sp>
      <p:pic>
        <p:nvPicPr>
          <p:cNvPr id="49" name="Picture 48" descr="temp_phot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155" y="2688577"/>
            <a:ext cx="2621471" cy="34327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54</Words>
  <Application>Microsoft Office PowerPoint</Application>
  <PresentationFormat>Personnalisé</PresentationFormat>
  <Paragraphs>63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Arial</vt:lpstr>
      <vt:lpstr>Calibri</vt:lpstr>
      <vt:lpstr>Arial Bold</vt:lpstr>
      <vt:lpstr>Calibri (MS) Bold</vt:lpstr>
      <vt:lpstr>Calibri (MS)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 Profile_OFF.pptx</dc:title>
  <cp:lastModifiedBy>Aya FARMATI</cp:lastModifiedBy>
  <cp:revision>2</cp:revision>
  <dcterms:created xsi:type="dcterms:W3CDTF">2006-08-16T00:00:00Z</dcterms:created>
  <dcterms:modified xsi:type="dcterms:W3CDTF">2026-07-28T15:42:47Z</dcterms:modified>
  <dc:identifier>DAHQrihl2Og</dc:identifier>
</cp:coreProperties>
</file>